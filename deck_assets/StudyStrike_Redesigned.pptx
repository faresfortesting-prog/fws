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3" r:id="rId24"/>
    <p:sldId id="259" r:id="rId10"/>
    <p:sldId id="274" r:id="rId25"/>
    <p:sldId id="262" r:id="rId13"/>
    <p:sldId id="261" r:id="rId12"/>
    <p:sldId id="263" r:id="rId14"/>
    <p:sldId id="264" r:id="rId15"/>
    <p:sldId id="266" r:id="rId17"/>
    <p:sldId id="265" r:id="rId16"/>
    <p:sldId id="267" r:id="rId18"/>
    <p:sldId id="269" r:id="rId20"/>
    <p:sldId id="268" r:id="rId19"/>
    <p:sldId id="275" r:id="rId26"/>
    <p:sldId id="276" r:id="rId27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640080"/>
            <a:ext cx="914400" cy="91440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91440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F3460"/>
                </a:solidFill>
                <a:latin typeface="Segoe UI"/>
              </a:rPr>
              <a:t>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658368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StudyStrike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D166"/>
                </a:solidFill>
                <a:latin typeface="Segoe UI"/>
              </a:rPr>
              <a:t>Compete. Excel. Succeed.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109728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What if studying felt like a game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D166"/>
                </a:solidFill>
                <a:latin typeface="Segoe UI"/>
              </a:rPr>
              <a:t>you couldn't afford to lose?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118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C5DAF0"/>
                </a:solidFill>
                <a:latin typeface="Segoe UI"/>
              </a:rPr>
              <a:t>Verified focus. Real grade rewards. A productivity platform UAE students actually stick with.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800600"/>
            <a:ext cx="3566160" cy="603504"/>
          </a:xfrm>
          <a:prstGeom prst="roundRect">
            <a:avLst/>
          </a:prstGeom>
          <a:solidFill>
            <a:srgbClr val="143E78"/>
          </a:solidFill>
          <a:ln w="12700">
            <a:solidFill>
              <a:srgbClr val="2E7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855464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Mohamed Fares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Product &amp; Vision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800600"/>
            <a:ext cx="3566160" cy="603504"/>
          </a:xfrm>
          <a:prstGeom prst="roundRect">
            <a:avLst/>
          </a:prstGeom>
          <a:solidFill>
            <a:srgbClr val="143E78"/>
          </a:solidFill>
          <a:ln w="12700">
            <a:solidFill>
              <a:srgbClr val="2E7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4855464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Ayman Hanoun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Front-end &amp; UX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4800600"/>
            <a:ext cx="3566160" cy="603504"/>
          </a:xfrm>
          <a:prstGeom prst="roundRect">
            <a:avLst/>
          </a:prstGeom>
          <a:solidFill>
            <a:srgbClr val="143E78"/>
          </a:solidFill>
          <a:ln w="12700">
            <a:solidFill>
              <a:srgbClr val="2E7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1" y="4855464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Faisal Ahmed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Market Research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13832"/>
            <a:ext cx="3566160" cy="603504"/>
          </a:xfrm>
          <a:prstGeom prst="roundRect">
            <a:avLst/>
          </a:prstGeom>
          <a:solidFill>
            <a:srgbClr val="143E78"/>
          </a:solidFill>
          <a:ln w="12700">
            <a:solidFill>
              <a:srgbClr val="2E7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5568696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Ahmed Nabil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Backend &amp;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513832"/>
            <a:ext cx="3566160" cy="603504"/>
          </a:xfrm>
          <a:prstGeom prst="roundRect">
            <a:avLst/>
          </a:prstGeom>
          <a:solidFill>
            <a:srgbClr val="143E78"/>
          </a:solidFill>
          <a:ln w="12700">
            <a:solidFill>
              <a:srgbClr val="2E7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5568696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Omar Mahmoud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Customer Development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9" y="5513832"/>
            <a:ext cx="3566160" cy="603504"/>
          </a:xfrm>
          <a:prstGeom prst="roundRect">
            <a:avLst/>
          </a:prstGeom>
          <a:solidFill>
            <a:srgbClr val="143E78"/>
          </a:solidFill>
          <a:ln w="12700">
            <a:solidFill>
              <a:srgbClr val="2E7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1" y="5568696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Mohamed Ali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Business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355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C3E8"/>
                </a:solidFill>
                <a:latin typeface="Segoe UI"/>
              </a:rPr>
              <a:t>FWS310 — Fundamentals of Innovation &amp; Entrepreneurship  |  Spring 2025–2026  |  Instructor: Abdelrahman El Adly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Students don't lack intent — they lack a system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that turns knowing into doing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383280" cy="182880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>
                <a:solidFill>
                  <a:srgbClr val="FFD166"/>
                </a:solidFill>
                <a:latin typeface="Segoe UI"/>
              </a:rPr>
              <a:t>73%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3108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of students miss at least one deadline every semester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691640"/>
            <a:ext cx="2194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856232"/>
            <a:ext cx="2011679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A5490"/>
                </a:solidFill>
                <a:latin typeface="Segoe UI"/>
              </a:rPr>
              <a:t>5+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532888"/>
            <a:ext cx="2011679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lost weekly to poor prioritisation &amp; procrastination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91640"/>
            <a:ext cx="2194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856232"/>
            <a:ext cx="2011679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A5490"/>
                </a:solidFill>
                <a:latin typeface="Segoe UI"/>
              </a:rPr>
              <a:t>2 in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2532888"/>
            <a:ext cx="2011679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say their tools don't fit their real-life schedule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691640"/>
            <a:ext cx="2743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19" y="1856232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D7377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2532888"/>
            <a:ext cx="25603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global edtech-productivity market, growing 9.1%/yr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2540"/>
                </a:solidFill>
                <a:latin typeface="Segoe UI"/>
              </a:rPr>
              <a:t>Four root causes we kept hearing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605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Procrastination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46320"/>
            <a:ext cx="2331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Students delay starting even when the deadline is known.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10128" y="41605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10128" y="4160520"/>
            <a:ext cx="2651760" cy="73152"/>
          </a:xfrm>
          <a:prstGeom prst="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3008" y="43434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Emotional barriers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4846320"/>
            <a:ext cx="2331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Anxiety &amp; guilt block action — not a lack of knowledge.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7336" y="41605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7336" y="4160520"/>
            <a:ext cx="2651760" cy="73152"/>
          </a:xfrm>
          <a:prstGeom prst="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0216" y="43434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Broken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4846320"/>
            <a:ext cx="2331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Planners need constant manual upkeep, so they get abandoned.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4544" y="4160520"/>
            <a:ext cx="26517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24544" y="4160520"/>
            <a:ext cx="2651760" cy="73152"/>
          </a:xfrm>
          <a:prstGeom prst="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07424" y="43434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One size fits none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7424" y="4846320"/>
            <a:ext cx="2331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Commuters, workers, ESL learners — generic tools fail them all.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F99"/>
                </a:solidFill>
                <a:latin typeface="Segoe UI"/>
              </a:rPr>
              <a:t>Sources: UAE student time-management survey (n=120, 2025); Statista EdTech productivity market, 2023.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OUR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We start with why students don't act</a:t>
            </a:r>
          </a:p>
        </p:txBody>
      </p:sp>
      <p:pic>
        <p:nvPicPr>
          <p:cNvPr id="6" name="Picture 5" descr="golden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926592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Built around one moat: verified effort that earns real rewards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611880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993391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🔒 Verified Focus Monitor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97480"/>
            <a:ext cx="324612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Webcam + screen presence confirm real focus — points are earned, not gamed.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901952"/>
            <a:ext cx="713232" cy="310896"/>
          </a:xfrm>
          <a:prstGeom prst="round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901952"/>
            <a:ext cx="713232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0F3460"/>
                </a:solidFill>
                <a:latin typeface="Segoe UI"/>
              </a:rPr>
              <a:t>MOAT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73736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1737360"/>
            <a:ext cx="3611880" cy="9144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1993391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🏆 Grade-linked Leaderboard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2697480"/>
            <a:ext cx="324612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Live weekly rankings per course. Top performers earn up to +2% on their grade.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3448" y="1901952"/>
            <a:ext cx="713232" cy="310896"/>
          </a:xfrm>
          <a:prstGeom prst="round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3448" y="1901952"/>
            <a:ext cx="713232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0F3460"/>
                </a:solidFill>
                <a:latin typeface="Segoe UI"/>
              </a:rPr>
              <a:t>MOAT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6" y="173736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737360"/>
            <a:ext cx="3611880" cy="9144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1993391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🔥 Streak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697480"/>
            <a:ext cx="324612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A daily study streak builds momentum and habit through visual consistency.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0776" y="1901952"/>
            <a:ext cx="713232" cy="310896"/>
          </a:xfrm>
          <a:prstGeom prst="round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0776" y="1901952"/>
            <a:ext cx="713232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0F3460"/>
                </a:solidFill>
                <a:latin typeface="Segoe UI"/>
              </a:rPr>
              <a:t>MOAT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840479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840479"/>
            <a:ext cx="3611880" cy="9144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096511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📋 Smart Task Prioritiser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4800599"/>
            <a:ext cx="324612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Auto-sorted task list with urgency labels, progress bars and time estimates.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0248" y="3840479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3840479"/>
            <a:ext cx="3611880" cy="9144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4096511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📈 Predictions &amp; Stats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4800599"/>
            <a:ext cx="324612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Grade and rank projection over the next four weeks to keep students ahead.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37576" y="3840479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3840479"/>
            <a:ext cx="3611880" cy="9144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4096511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🧑‍🏫 Instructor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4800599"/>
            <a:ext cx="324612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Teachers see progress, focus % and at-risk students — and apply the bonuses.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From sign-up to habit in six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640080" cy="640080"/>
          </a:xfrm>
          <a:prstGeom prst="round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121408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Register &amp; link 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Connect Blackboard / MyADU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8" y="228600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F99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82880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98848" y="2103120"/>
            <a:ext cx="640080" cy="640080"/>
          </a:xfrm>
          <a:prstGeom prst="round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21031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2121408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Tasks auto-imported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8" y="274320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Deadlines pulled in &amp; prioritised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6" y="228600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F99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6" y="1828800"/>
            <a:ext cx="3383280" cy="1737360"/>
          </a:xfrm>
          <a:prstGeom prst="roundRect">
            <a:avLst/>
          </a:prstGeom>
          <a:solidFill>
            <a:srgbClr val="0F3460"/>
          </a:solidFill>
          <a:ln w="254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6176" y="2103120"/>
            <a:ext cx="640080" cy="64008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10312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F3460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121408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Verified study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74320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D166"/>
                </a:solidFill>
                <a:latin typeface="Segoe UI"/>
              </a:rPr>
              <a:t>Focus Monitor on · points per minute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206240"/>
            <a:ext cx="640080" cy="640080"/>
          </a:xfrm>
          <a:prstGeom prst="round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224528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Points &amp; streak update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84632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Streak +1 · leaderboard refreshes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4488" y="438912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F99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393192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98848" y="4206240"/>
            <a:ext cx="640080" cy="640080"/>
          </a:xfrm>
          <a:prstGeom prst="round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8848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6088" y="4224528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Review predictions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484632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4-week projected rank &amp; grade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71816" y="438912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F99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7576" y="393192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66176" y="4206240"/>
            <a:ext cx="640080" cy="640080"/>
          </a:xfrm>
          <a:prstGeom prst="round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6176" y="420624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43416" y="4224528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Earn grade bonus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3416" y="484632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Top finish → instructor applies bonus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9893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Step 3 is the magic moment — </a:t>
            </a:r>
            <a:r>
              <a:rPr sz="1350" b="0">
                <a:solidFill>
                  <a:srgbClr val="1A2540"/>
                </a:solidFill>
                <a:latin typeface="Segoe UI"/>
              </a:rPr>
              <a:t>verified focus is what makes every point trustworthy.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PROTOTYPE — LIVE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This isn't a mock-up. The product runs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Segoe UI"/>
              </a:rPr>
              <a:t>Focus Dashboard — home 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23774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42032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5A623"/>
                </a:solidFill>
                <a:latin typeface="Segoe UI"/>
              </a:rPr>
              <a:t>🔥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18688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day streak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377440"/>
            <a:ext cx="24688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542032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A5490"/>
                </a:solidFill>
                <a:latin typeface="Segoe UI"/>
              </a:rPr>
              <a:t>⭐ 3,850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218688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total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B7F99"/>
                </a:solidFill>
                <a:latin typeface="Segoe UI"/>
              </a:rPr>
              <a:t>Current semester rewards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1207008" cy="1554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114800"/>
            <a:ext cx="1207008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1st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D7377"/>
                </a:solidFill>
                <a:latin typeface="Segoe UI"/>
              </a:rPr>
              <a:t>+2%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F99"/>
                </a:solidFill>
                <a:latin typeface="Segoe UI"/>
              </a:rPr>
              <a:t>grade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9967" y="4114800"/>
            <a:ext cx="1207008" cy="1554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9967" y="4114800"/>
            <a:ext cx="1207008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7" y="425196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2nd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7" y="475488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D7377"/>
                </a:solidFill>
                <a:latin typeface="Segoe UI"/>
              </a:rPr>
              <a:t>+1.5%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7" y="521208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F99"/>
                </a:solidFill>
                <a:latin typeface="Segoe UI"/>
              </a:rPr>
              <a:t>grade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28415" y="4114800"/>
            <a:ext cx="1207008" cy="1554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28415" y="4114800"/>
            <a:ext cx="1207008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28415" y="425196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3rd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5" y="475488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D7377"/>
                </a:solidFill>
                <a:latin typeface="Segoe UI"/>
              </a:rPr>
              <a:t>+1%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5" y="521208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F99"/>
                </a:solidFill>
                <a:latin typeface="Segoe UI"/>
              </a:rPr>
              <a:t>grade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26864" y="4114800"/>
            <a:ext cx="1207008" cy="1554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26864" y="4114800"/>
            <a:ext cx="1207008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4" y="425196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Top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6864" y="4754880"/>
            <a:ext cx="12070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D7377"/>
                </a:solidFill>
                <a:latin typeface="Segoe UI"/>
              </a:rPr>
              <a:t>+0.5%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6864" y="521208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F99"/>
                </a:solidFill>
                <a:latin typeface="Segoe UI"/>
              </a:rPr>
              <a:t>grade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37360"/>
            <a:ext cx="5486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Segoe UI"/>
              </a:rPr>
              <a:t>Leaderboard — weekly rankings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2377440"/>
            <a:ext cx="5029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2377440"/>
            <a:ext cx="64008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2377440"/>
            <a:ext cx="210312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F3460"/>
                </a:solidFill>
                <a:latin typeface="Segoe UI"/>
              </a:rPr>
              <a:t>Alex Chen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77440"/>
            <a:ext cx="91440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🔥 28d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2377440"/>
            <a:ext cx="82296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5490"/>
                </a:solidFill>
                <a:latin typeface="Segoe UI"/>
              </a:rPr>
              <a:t>4,520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35640" y="2377440"/>
            <a:ext cx="54864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+2.0%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0" y="3054096"/>
            <a:ext cx="5029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0528" y="3054096"/>
            <a:ext cx="64008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054096"/>
            <a:ext cx="210312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F3460"/>
                </a:solidFill>
                <a:latin typeface="Segoe UI"/>
              </a:rPr>
              <a:t>Jordan Smith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054096"/>
            <a:ext cx="91440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🔥 24d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054096"/>
            <a:ext cx="82296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5490"/>
                </a:solidFill>
                <a:latin typeface="Segoe UI"/>
              </a:rPr>
              <a:t>4,180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5640" y="3054096"/>
            <a:ext cx="54864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+1.5%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3730752"/>
            <a:ext cx="5029200" cy="603504"/>
          </a:xfrm>
          <a:prstGeom prst="roundRect">
            <a:avLst/>
          </a:prstGeom>
          <a:solidFill>
            <a:srgbClr val="EEF4FD"/>
          </a:solidFill>
          <a:ln w="12700">
            <a:solidFill>
              <a:srgbClr val="1A5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0528" y="3730752"/>
            <a:ext cx="64008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3730752"/>
            <a:ext cx="210312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You (You)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3730752"/>
            <a:ext cx="91440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🔥 19d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30752"/>
            <a:ext cx="82296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5490"/>
                </a:solidFill>
                <a:latin typeface="Segoe UI"/>
              </a:rPr>
              <a:t>3,850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3730752"/>
            <a:ext cx="54864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+1.0%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4407408"/>
            <a:ext cx="5029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10528" y="4407408"/>
            <a:ext cx="64008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#4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407408"/>
            <a:ext cx="210312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F3460"/>
                </a:solidFill>
                <a:latin typeface="Segoe UI"/>
              </a:rPr>
              <a:t>Morgan Lee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4407408"/>
            <a:ext cx="91440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🔥 15d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2680" y="4407408"/>
            <a:ext cx="82296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5490"/>
                </a:solidFill>
                <a:latin typeface="Segoe UI"/>
              </a:rPr>
              <a:t>3,620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4407408"/>
            <a:ext cx="54864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+0.5%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00800" y="5084064"/>
            <a:ext cx="5029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0528" y="5084064"/>
            <a:ext cx="64008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#5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084064"/>
            <a:ext cx="210312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F3460"/>
                </a:solidFill>
                <a:latin typeface="Segoe UI"/>
              </a:rPr>
              <a:t>Casey Brown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5084064"/>
            <a:ext cx="91440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🔥 12d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12680" y="5084064"/>
            <a:ext cx="82296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5490"/>
                </a:solidFill>
                <a:latin typeface="Segoe UI"/>
              </a:rPr>
              <a:t>3,210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5084064"/>
            <a:ext cx="548640" cy="6035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+0.5%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F99"/>
                </a:solidFill>
                <a:latin typeface="Segoe UI"/>
              </a:rPr>
              <a:t>Live demo available: the verified Focus Monitor flips green → red the moment a student looks away or opens off-task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PROTOTYPE — ANALYTICS &amp;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Predictions keep students ahead; the task view tells them what to do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Segoe UI"/>
              </a:rPr>
              <a:t>Predictions &amp; 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5490"/>
                </a:solidFill>
                <a:latin typeface="Segoe UI"/>
              </a:rPr>
              <a:t>3,850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15768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Total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33172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5490"/>
                </a:solidFill>
                <a:latin typeface="Segoe UI"/>
              </a:rPr>
              <a:t>19d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715768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Streak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5490"/>
                </a:solidFill>
                <a:latin typeface="Segoe UI"/>
              </a:rPr>
              <a:t>110%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30168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Weekly 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246120"/>
            <a:ext cx="24688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5490"/>
                </a:solidFill>
                <a:latin typeface="Segoe UI"/>
              </a:rPr>
              <a:t>92%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630168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On-Time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B7F99"/>
                </a:solidFill>
                <a:latin typeface="Segoe UI"/>
              </a:rPr>
              <a:t>Predicted performance (next 4 weeks)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09160"/>
            <a:ext cx="1207008" cy="1005840"/>
          </a:xfrm>
          <a:prstGeom prst="roundRect">
            <a:avLst/>
          </a:prstGeom>
          <a:solidFill>
            <a:srgbClr val="EEF4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73168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F99"/>
                </a:solidFill>
                <a:latin typeface="Segoe UI"/>
              </a:rPr>
              <a:t>W1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~550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40680"/>
            <a:ext cx="120700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3rd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29967" y="4709160"/>
            <a:ext cx="1207008" cy="1005840"/>
          </a:xfrm>
          <a:prstGeom prst="roundRect">
            <a:avLst/>
          </a:prstGeom>
          <a:solidFill>
            <a:srgbClr val="EEF4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7" y="4773168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F99"/>
                </a:solidFill>
                <a:latin typeface="Segoe UI"/>
              </a:rPr>
              <a:t>W2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7" y="507492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~605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7" y="5440680"/>
            <a:ext cx="120700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3rd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28415" y="4709160"/>
            <a:ext cx="1207008" cy="1005840"/>
          </a:xfrm>
          <a:prstGeom prst="roundRect">
            <a:avLst/>
          </a:prstGeom>
          <a:solidFill>
            <a:srgbClr val="EEF4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5" y="4773168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F99"/>
                </a:solidFill>
                <a:latin typeface="Segoe UI"/>
              </a:rPr>
              <a:t>W3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5" y="507492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~680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5" y="5440680"/>
            <a:ext cx="120700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2nd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26864" y="4709160"/>
            <a:ext cx="1207008" cy="1005840"/>
          </a:xfrm>
          <a:prstGeom prst="roundRect">
            <a:avLst/>
          </a:prstGeom>
          <a:solidFill>
            <a:srgbClr val="EEF4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4773168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F99"/>
                </a:solidFill>
                <a:latin typeface="Segoe UI"/>
              </a:rPr>
              <a:t>W4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5074920"/>
            <a:ext cx="1207008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~745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6864" y="5440680"/>
            <a:ext cx="120700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D7377"/>
                </a:solidFill>
                <a:latin typeface="Segoe UI"/>
              </a:rPr>
              <a:t>1st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1737360"/>
            <a:ext cx="5486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3460"/>
                </a:solidFill>
                <a:latin typeface="Segoe UI"/>
              </a:rPr>
              <a:t>Task progress — prioritised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377440"/>
            <a:ext cx="5029200" cy="10058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377440"/>
            <a:ext cx="82296" cy="1005840"/>
          </a:xfrm>
          <a:prstGeom prst="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332720" y="2542032"/>
            <a:ext cx="960120" cy="329184"/>
          </a:xfrm>
          <a:prstGeom prst="round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20" y="2542032"/>
            <a:ext cx="960120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Due soon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56032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Advanced Calculus – Problem Set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2980944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MATH 401 · 85% · Today 11:59 PM · 100 pts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3520440"/>
            <a:ext cx="5029200" cy="10058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3520440"/>
            <a:ext cx="82296" cy="10058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32720" y="3685032"/>
            <a:ext cx="960120" cy="32918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32720" y="3685032"/>
            <a:ext cx="960120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Urgent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70332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Organic Chemistry Midterm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123944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CHEM 301 · 30% · Tomorrow 2 PM · 250 pts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4663440"/>
            <a:ext cx="5029200" cy="10058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4663440"/>
            <a:ext cx="82296" cy="1005840"/>
          </a:xfrm>
          <a:prstGeom prst="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332720" y="4828031"/>
            <a:ext cx="960120" cy="329184"/>
          </a:xfrm>
          <a:prstGeom prst="roundRect">
            <a:avLst/>
          </a:prstGeom>
          <a:solidFill>
            <a:srgbClr val="14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0" y="4828031"/>
            <a:ext cx="960120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Upcoming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0" y="484632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Physics Pop Quiz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5266944"/>
            <a:ext cx="4480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F99"/>
                </a:solidFill>
                <a:latin typeface="Segoe UI"/>
              </a:rPr>
              <a:t>PHYS 200 · 0% · In 2 days · 50 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Our 5-student pilot proved the hook — and showed us what to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F99"/>
                </a:solidFill>
                <a:latin typeface="Segoe UI"/>
              </a:rPr>
              <a:t>5 students · 1 week · Google Form + WhatsApp leaderboard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2651760" cy="1554480"/>
          </a:xfrm>
          <a:prstGeom prst="round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D166"/>
                </a:solidFill>
                <a:latin typeface="Segoe UI"/>
              </a:rPr>
              <a:t>5/5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found tasks easier to complete vs. the prior week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182880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8" y="2011680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A5490"/>
                </a:solidFill>
                <a:latin typeface="Segoe UI"/>
              </a:rPr>
              <a:t>3/5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60604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named leaderboard competition as their main motivator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82880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2011680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A5490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60604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did extra revision purely to protect a streak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24544" y="182880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24544" y="2011680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A5490"/>
                </a:solidFill>
                <a:latin typeface="Segoe UI"/>
              </a:rPr>
              <a:t>2/5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4" y="260604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used prioritisation to choose what to tackle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2540"/>
                </a:solidFill>
                <a:latin typeface="Segoe UI"/>
              </a:rPr>
              <a:t>Every issue raised, we've since acted 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14800"/>
            <a:ext cx="5394960" cy="530352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4114800"/>
            <a:ext cx="5669280" cy="530352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14800"/>
            <a:ext cx="521208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Issue raised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114800"/>
            <a:ext cx="539496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Proposed / built fix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81728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89320" y="4681728"/>
            <a:ext cx="56692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81728"/>
            <a:ext cx="521208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Manual Google-Form entry was clunky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681728"/>
            <a:ext cx="539496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Native in-app task logging + LMS auto-sync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48656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89320" y="5248656"/>
            <a:ext cx="5669280" cy="530352"/>
          </a:xfrm>
          <a:prstGeom prst="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248656"/>
            <a:ext cx="521208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No way to stop point-cheating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5248656"/>
            <a:ext cx="539496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7377"/>
                </a:solidFill>
                <a:latin typeface="Segoe UI"/>
              </a:rPr>
              <a:t>✓ BUILT: verified Focus Monitor (webcam + screen)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815583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89320" y="5815583"/>
            <a:ext cx="56692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3"/>
            <a:ext cx="521208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Streak lost if internet dropped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815583"/>
            <a:ext cx="539496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Offline mode + streak-freeze (roadmap)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We connect every pain to a feature — and a feeling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3840480" cy="804672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56616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Student pain (their words)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783080"/>
            <a:ext cx="3703320" cy="804672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42900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StudyStrike feature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783080"/>
            <a:ext cx="3456432" cy="804672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83080"/>
            <a:ext cx="3182112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The benefit they feel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3840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56616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“I know the deadline, I just don't start.”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51760"/>
            <a:ext cx="37033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651760"/>
            <a:ext cx="342900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Smart prioritiser + daily start-points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651760"/>
            <a:ext cx="3456432" cy="804672"/>
          </a:xfrm>
          <a:prstGeom prst="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51760"/>
            <a:ext cx="3182112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7377"/>
                </a:solidFill>
                <a:latin typeface="Segoe UI"/>
              </a:rPr>
              <a:t>Anxiety becomes one obvious next 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20439"/>
            <a:ext cx="3840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20439"/>
            <a:ext cx="356616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“Planners are work on top of work.”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520439"/>
            <a:ext cx="37033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20439"/>
            <a:ext cx="342900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LMS auto-import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520439"/>
            <a:ext cx="3456432" cy="804672"/>
          </a:xfrm>
          <a:prstGeom prst="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520439"/>
            <a:ext cx="3182112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7377"/>
                </a:solidFill>
                <a:latin typeface="Segoe UI"/>
              </a:rPr>
              <a:t>Zero maintenance — deadlines just appear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89120"/>
            <a:ext cx="3840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356616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“Nothing makes studying feel worth it.”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4389120"/>
            <a:ext cx="37033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389120"/>
            <a:ext cx="342900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Grade-linked leaderboard &amp; streaks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389120"/>
            <a:ext cx="3456432" cy="804672"/>
          </a:xfrm>
          <a:prstGeom prst="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389120"/>
            <a:ext cx="3182112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7377"/>
                </a:solidFill>
                <a:latin typeface="Segoe UI"/>
              </a:rPr>
              <a:t>Effort becomes a grade investment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57800"/>
            <a:ext cx="3840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57800"/>
            <a:ext cx="356616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“I get distracted / cheat my own timer.”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5257800"/>
            <a:ext cx="37033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5257800"/>
            <a:ext cx="3429000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Verified Focus Monitor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5257800"/>
            <a:ext cx="3456432" cy="804672"/>
          </a:xfrm>
          <a:prstGeom prst="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5257800"/>
            <a:ext cx="3182112" cy="8046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7377"/>
                </a:solidFill>
                <a:latin typeface="Segoe UI"/>
              </a:rPr>
              <a:t>Points you — and your instructor — can trust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6172200"/>
            <a:ext cx="11155680" cy="50292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172200"/>
            <a:ext cx="111556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The only student tool where </a:t>
            </a:r>
            <a:r>
              <a:rPr sz="1300" b="1">
                <a:solidFill>
                  <a:srgbClr val="FFD166"/>
                </a:solidFill>
                <a:latin typeface="Segoe UI"/>
              </a:rPr>
              <a:t>verified daily effort converts into real grade bonuses</a:t>
            </a:r>
            <a:r>
              <a:rPr sz="1300" b="0">
                <a:solidFill>
                  <a:srgbClr val="FFFFFF"/>
                </a:solidFill>
                <a:latin typeface="Segoe UI"/>
              </a:rPr>
              <a:t> — a trust loop no leaderboard can fake.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A growing market, a focused beachhead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8047" y="1783080"/>
            <a:ext cx="10515600" cy="114300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3807" y="1783080"/>
            <a:ext cx="2011680" cy="1143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D166"/>
                </a:solidFill>
                <a:latin typeface="Segoe UI"/>
              </a:rPr>
              <a:t>TAM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$1.4B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1247" y="1783080"/>
            <a:ext cx="7498079" cy="1143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Global edtech-productivity market (2023) → $2.7B by 2031 @ 9.1% CAGR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09647" y="3108960"/>
            <a:ext cx="7772400" cy="1143000"/>
          </a:xfrm>
          <a:prstGeom prst="round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5407" y="3108960"/>
            <a:ext cx="2011680" cy="1143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D166"/>
                </a:solidFill>
                <a:latin typeface="Segoe UI"/>
              </a:rPr>
              <a:t>SAM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$85M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847" y="3108960"/>
            <a:ext cx="4754880" cy="1143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UAE + GCC higher-ed productivity tools (2025 estimate)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1247" y="4434840"/>
            <a:ext cx="5029200" cy="1143000"/>
          </a:xfrm>
          <a:prstGeom prst="round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47007" y="4434840"/>
            <a:ext cx="2011680" cy="1143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D166"/>
                </a:solidFill>
                <a:latin typeface="Segoe UI"/>
              </a:rPr>
              <a:t>SOM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$4–8M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4434840"/>
            <a:ext cx="2011680" cy="1143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5–10% UAE share targeted within 3 years of launch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2540"/>
                </a:solidFill>
                <a:latin typeface="Segoe UI"/>
              </a:rPr>
              <a:t>Revenue model:  </a:t>
            </a:r>
            <a:r>
              <a:rPr sz="1300" b="0">
                <a:solidFill>
                  <a:srgbClr val="6B7F99"/>
                </a:solidFill>
                <a:latin typeface="Segoe UI"/>
              </a:rPr>
              <a:t>Free tier · Premium AED 29/mo · Institutional licence AED 15/student/yr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COMPETITIVE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We own the empty corner of the market</a:t>
            </a:r>
          </a:p>
        </p:txBody>
      </p:sp>
      <p:pic>
        <p:nvPicPr>
          <p:cNvPr id="6" name="Picture 5" descr="positionin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89408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55279" y="1554480"/>
            <a:ext cx="38404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7830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Positioning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240280"/>
            <a:ext cx="3429000" cy="1645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A2540"/>
                </a:solidFill>
                <a:latin typeface="Segoe UI"/>
              </a:rPr>
              <a:t>For UAE students who struggle to meet deadlines, StudyStrike turns assignments into competitive, motivating challenges — unlike generic tools that ignore grades and schedules.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77639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Why we win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434840"/>
            <a:ext cx="34290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A2540"/>
                </a:solidFill>
                <a:latin typeface="Segoe UI"/>
              </a:rPr>
              <a:t>A leaderboard can be copied. A </a:t>
            </a:r>
            <a:r>
              <a:rPr sz="1200" b="1">
                <a:solidFill>
                  <a:srgbClr val="0F3460"/>
                </a:solidFill>
                <a:latin typeface="Segoe UI"/>
              </a:rPr>
              <a:t>verified</a:t>
            </a:r>
            <a:r>
              <a:rPr sz="1200" b="0">
                <a:solidFill>
                  <a:srgbClr val="1A2540"/>
                </a:solidFill>
                <a:latin typeface="Segoe UI"/>
              </a:rPr>
              <a:t> link between daily effort and real grades cannot.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CUSTOMER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We didn't guess — we interviewed, then built what they asked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118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611880" cy="822960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Ahmed,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1284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2nd-yr Engineering · part-time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35808"/>
            <a:ext cx="3200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Balance tutoring shifts with heavy lab reports.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WILLING TO 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33087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5490"/>
                </a:solidFill>
                <a:latin typeface="Segoe UI"/>
              </a:rPr>
              <a:t>AED 25–35/mo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SUGGESTED → WE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0328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Asked for a 'work-shift blocker' → added to roadmap. Joined beta.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737360"/>
            <a:ext cx="36118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737360"/>
            <a:ext cx="3611880" cy="822960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18288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Sara, 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21284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3rd-yr Business · group-project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7432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NEED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035808"/>
            <a:ext cx="3200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Group deadlines scattered across WhatsApp &amp; email.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8404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WILLING TO PAY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133087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5490"/>
                </a:solidFill>
                <a:latin typeface="Segoe UI"/>
              </a:rPr>
              <a:t>AED 20–30/mo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617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SUGGESTED → WE 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910328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Asked for 'group sprint mode' → added. Volunteered for beta.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6" y="1737360"/>
            <a:ext cx="36118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7576" y="1737360"/>
            <a:ext cx="3611880" cy="822960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18288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Bilal, 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21284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D166"/>
                </a:solidFill>
                <a:latin typeface="Segoe UI"/>
              </a:rPr>
              <a:t>2nd-yr IT · international (ESL)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274320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NEED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035808"/>
            <a:ext cx="3200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Underestimates task time due to English reading load.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38404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WILLING TO PAY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133087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5490"/>
                </a:solidFill>
                <a:latin typeface="Segoe UI"/>
              </a:rPr>
              <a:t>AED 30/mo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6" y="4617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D7377"/>
                </a:solidFill>
                <a:latin typeface="Segoe UI"/>
              </a:rPr>
              <a:t>SUGGESTED → WE BUILT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6" y="4910328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Asked for a 'language difficulty multiplier' → in Predictions roadmap.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LEARN &amp; 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We validated the core — and changed course where the evidence said so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486400" cy="64008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✓  Validated assumptions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49377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300" b="0">
                <a:solidFill>
                  <a:srgbClr val="1A2540"/>
                </a:solidFill>
                <a:latin typeface="Segoe UI"/>
              </a:rPr>
              <a:t>Gamification (streaks + leaderboard) lifts daily 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49377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300" b="0">
                <a:solidFill>
                  <a:srgbClr val="1A2540"/>
                </a:solidFill>
                <a:latin typeface="Segoe UI"/>
              </a:rPr>
              <a:t>Grade-linked rewards beat generic badges by a wide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49377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300" b="0">
                <a:solidFill>
                  <a:srgbClr val="1A2540"/>
                </a:solidFill>
                <a:latin typeface="Segoe UI"/>
              </a:rPr>
              <a:t>A single consolidated task view reduces missed deadlines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49377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300" b="0">
                <a:solidFill>
                  <a:srgbClr val="1A2540"/>
                </a:solidFill>
                <a:latin typeface="Segoe UI"/>
              </a:rPr>
              <a:t>Direct interviews surfaced features we'd never have designed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37360"/>
            <a:ext cx="54864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737360"/>
            <a:ext cx="5486400" cy="6400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5029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3460"/>
                </a:solidFill>
                <a:latin typeface="Segoe UI"/>
              </a:rPr>
              <a:t>⟳  Adaptations made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14600"/>
            <a:ext cx="50292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Manual Google-Form entry  →  </a:t>
            </a:r>
            <a:r>
              <a:rPr sz="1250" b="1">
                <a:solidFill>
                  <a:srgbClr val="0F3460"/>
                </a:solidFill>
                <a:latin typeface="Segoe UI"/>
              </a:rPr>
              <a:t>LMS auto-import (Blackboard .ics)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37560"/>
            <a:ext cx="50292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No anti-cheat mechanism  →  </a:t>
            </a:r>
            <a:r>
              <a:rPr sz="1250" b="1">
                <a:solidFill>
                  <a:srgbClr val="0F3460"/>
                </a:solidFill>
                <a:latin typeface="Segoe UI"/>
              </a:rPr>
              <a:t>Verified Focus Monitor — now built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60520"/>
            <a:ext cx="50292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Web-only prototype  →  </a:t>
            </a:r>
            <a:r>
              <a:rPr sz="1250" b="1">
                <a:solidFill>
                  <a:srgbClr val="0F3460"/>
                </a:solidFill>
                <a:latin typeface="Segoe UI"/>
              </a:rPr>
              <a:t>Mobile-first redesign next sprint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50292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Individual-only tasks  →  </a:t>
            </a:r>
            <a:r>
              <a:rPr sz="1250" b="1">
                <a:solidFill>
                  <a:srgbClr val="0F3460"/>
                </a:solidFill>
                <a:latin typeface="Segoe UI"/>
              </a:rPr>
              <a:t>Group sprint / team-challenge mode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Shipped the MVP — here's how we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3611880" cy="868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3460"/>
                </a:solidFill>
                <a:latin typeface="Segoe UI"/>
              </a:rPr>
              <a:t>Phase 1 —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0F3460"/>
                </a:solidFill>
                <a:latin typeface="Segoe UI"/>
              </a:rPr>
              <a:t>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Functional web MVP (built ✓)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75887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Verified Focus Monitor (built ✓)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34256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Blackboard .ics import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92624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Pomodoro focus timer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1554480"/>
            <a:ext cx="1600200" cy="384048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1554480"/>
            <a:ext cx="160020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D166"/>
                </a:solidFill>
                <a:latin typeface="Segoe UI"/>
              </a:rPr>
              <a:t>◀ YOU ARE HERE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920240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920240"/>
            <a:ext cx="3611880" cy="86868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201168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Phase 2 — Short 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4231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Q4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01752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Full Blackboard API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675887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Native mobile app (iOS + Android)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334256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Streak-freeze feature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992624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D7377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Instructor approval 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7576" y="1920240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37576" y="1920240"/>
            <a:ext cx="3611880" cy="86868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201168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Phase 3 — Medium term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24231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Q1–Q2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301752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5490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AI adaptive task-duration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3675887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5490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Group sprints / team challenges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4334256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5490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University B2B licensing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4992624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5490"/>
                </a:solidFill>
                <a:latin typeface="Segoe UI"/>
              </a:rPr>
              <a:t>•  </a:t>
            </a:r>
            <a:r>
              <a:rPr sz="1250" b="0">
                <a:solidFill>
                  <a:srgbClr val="1A2540"/>
                </a:solidFill>
                <a:latin typeface="Segoe UI"/>
              </a:rPr>
              <a:t>Instructor analytics dashboard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0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868680"/>
            <a:ext cx="1371600" cy="137160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886968"/>
            <a:ext cx="1371600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F3460"/>
                </a:solidFill>
                <a:latin typeface="Segoe UI"/>
              </a:rPr>
              <a:t>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Every deadline met is a student who proved they could.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D166"/>
                </a:solidFill>
                <a:latin typeface="Segoe UI"/>
              </a:rPr>
              <a:t>We just give them the reason to 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C5DAF0"/>
                </a:solidFill>
                <a:latin typeface="Segoe UI"/>
              </a:rPr>
              <a:t>Thank you  ·  Questions &amp; Answers welcome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43484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D166"/>
                </a:solidFill>
                <a:latin typeface="Segoe U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521208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43484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D166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21208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Key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43484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D166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521208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Pilot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43484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D166"/>
                </a:solidFill>
                <a:latin typeface="Segoe U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Positive Feedback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C3E8"/>
                </a:solidFill>
                <a:latin typeface="Segoe UI"/>
              </a:rPr>
              <a:t>StudyStrike — Compete. Excel. Succeed.   |   FWS310, Spring 2025–2026   |   Instructor: Abdelrahman El Adly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WHY CURRENT TOOLS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Plenty of tools exist — none convert academic intent into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4251960" cy="658368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977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Existing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91640"/>
            <a:ext cx="3611880" cy="658368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691640"/>
            <a:ext cx="333756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Its drawback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49640" y="1691640"/>
            <a:ext cx="3136392" cy="658368"/>
          </a:xfrm>
          <a:prstGeom prst="rect">
            <a:avLst/>
          </a:prstGeom>
          <a:solidFill>
            <a:srgbClr val="0F3460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691640"/>
            <a:ext cx="2862072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Who it fails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0487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04872"/>
            <a:ext cx="3977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2540"/>
                </a:solidFill>
                <a:latin typeface="Segoe UI"/>
              </a:rPr>
              <a:t>Planner &amp; list apps  (Todoist, Notion)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404872"/>
            <a:ext cx="3611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404872"/>
            <a:ext cx="333756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4A5F"/>
                </a:solidFill>
                <a:latin typeface="Segoe UI"/>
              </a:rPr>
              <a:t>High manual upkeep — abandoned within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404872"/>
            <a:ext cx="31363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2404872"/>
            <a:ext cx="2862072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Busy commuters &amp; working students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18104"/>
            <a:ext cx="3977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2540"/>
                </a:solidFill>
                <a:latin typeface="Segoe UI"/>
              </a:rPr>
              <a:t>Focus apps  (Forest, Pomodoro timers)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3118104"/>
            <a:ext cx="3611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3118104"/>
            <a:ext cx="333756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4A5F"/>
                </a:solidFill>
                <a:latin typeface="Segoe UI"/>
              </a:rPr>
              <a:t>Track time, but no link to grades or deadlines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3118104"/>
            <a:ext cx="31363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3118104"/>
            <a:ext cx="2862072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Students who need real stakes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31335"/>
            <a:ext cx="3977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2540"/>
                </a:solidFill>
                <a:latin typeface="Segoe UI"/>
              </a:rPr>
              <a:t>LMS portals  (Blackboard, MyADU)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3831335"/>
            <a:ext cx="3611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3831335"/>
            <a:ext cx="333756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4A5F"/>
                </a:solidFill>
                <a:latin typeface="Segoe UI"/>
              </a:rPr>
              <a:t>Show deadlines, offer zero motivation or guidance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3831335"/>
            <a:ext cx="31363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3831335"/>
            <a:ext cx="2862072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Chronic procrastinators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54456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44568"/>
            <a:ext cx="3977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2540"/>
                </a:solidFill>
                <a:latin typeface="Segoe UI"/>
              </a:rPr>
              <a:t>Gamified habit apps  (Habitica, Duolingo)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4544568"/>
            <a:ext cx="3611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544568"/>
            <a:ext cx="333756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4A5F"/>
                </a:solidFill>
                <a:latin typeface="Segoe UI"/>
              </a:rPr>
              <a:t>Fun, but disconnected from real academic work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49640" y="4544568"/>
            <a:ext cx="31363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4544568"/>
            <a:ext cx="2862072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Course-focused students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25780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257800"/>
            <a:ext cx="3977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2540"/>
                </a:solidFill>
                <a:latin typeface="Segoe UI"/>
              </a:rPr>
              <a:t>Reminder / notification apps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6320" y="5257800"/>
            <a:ext cx="3611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83480" y="5257800"/>
            <a:ext cx="333756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4A5F"/>
                </a:solidFill>
                <a:latin typeface="Segoe UI"/>
              </a:rPr>
              <a:t>Notify — but never prompt the next action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49640" y="5257800"/>
            <a:ext cx="31363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5257800"/>
            <a:ext cx="2862072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F99"/>
                </a:solidFill>
                <a:latin typeface="Segoe UI"/>
              </a:rPr>
              <a:t>Anxiety-driven avoiders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6035040"/>
            <a:ext cx="11155680" cy="548640"/>
          </a:xfrm>
          <a:prstGeom prst="round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40"/>
                </a:solidFill>
                <a:latin typeface="Segoe UI"/>
              </a:rPr>
              <a:t>Every competitor fails on one of three fronts: </a:t>
            </a:r>
            <a:r>
              <a:rPr sz="1300" b="1">
                <a:solidFill>
                  <a:srgbClr val="0D7377"/>
                </a:solidFill>
                <a:latin typeface="Segoe UI"/>
              </a:rPr>
              <a:t>maintenance, stakes, or motivation</a:t>
            </a:r>
            <a:r>
              <a:rPr sz="1300" b="0">
                <a:solidFill>
                  <a:srgbClr val="1A2540"/>
                </a:solidFill>
                <a:latin typeface="Segoe UI"/>
              </a:rPr>
              <a:t>.  StudyStrike fixes all three.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OUR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A working web platform — built, running, and pilot-tested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429768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89204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StudyStrike is a functional web app today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D166"/>
                </a:solidFill>
                <a:latin typeface="Segoe UI"/>
              </a:rPr>
              <a:t>not a mock-up. Students log in, study under verified focus, earn points, and climb a live per-course leaderboard.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29200"/>
            <a:ext cx="4846320" cy="777240"/>
          </a:xfrm>
          <a:prstGeom prst="roundRect">
            <a:avLst/>
          </a:prstGeom>
          <a:solidFill>
            <a:srgbClr val="143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48463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✓  Validated with a 5-student, 1-week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7830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2540"/>
                </a:solidFill>
                <a:latin typeface="Segoe UI"/>
              </a:rPr>
              <a:t>What's in the MVP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94560"/>
            <a:ext cx="548640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48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3460"/>
                </a:solidFill>
                <a:latin typeface="Segoe UI"/>
              </a:rP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240279"/>
            <a:ext cx="46634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Verified Focus Monitor  </a:t>
            </a:r>
            <a:r>
              <a:rPr sz="1150" b="0">
                <a:solidFill>
                  <a:srgbClr val="6B7F99"/>
                </a:solidFill>
                <a:latin typeface="Segoe UI"/>
              </a:rPr>
              <a:t>— webcam + screen presence confirm real focus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907791"/>
            <a:ext cx="548640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907791"/>
            <a:ext cx="548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3460"/>
                </a:solidFill>
                <a:latin typeface="Segoe UI"/>
              </a:rPr>
              <a:t>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53511"/>
            <a:ext cx="46634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Grade-linked Leaderboard  </a:t>
            </a:r>
            <a:r>
              <a:rPr sz="1150" b="0">
                <a:solidFill>
                  <a:srgbClr val="6B7F99"/>
                </a:solidFill>
                <a:latin typeface="Segoe UI"/>
              </a:rPr>
              <a:t>— live weekly rankings, up to +2% grade bonus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21024"/>
            <a:ext cx="548640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621024"/>
            <a:ext cx="548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3460"/>
                </a:solidFill>
                <a:latin typeface="Segoe UI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666744"/>
            <a:ext cx="46634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Smart Task Prioritiser  </a:t>
            </a:r>
            <a:r>
              <a:rPr sz="1150" b="0">
                <a:solidFill>
                  <a:srgbClr val="6B7F99"/>
                </a:solidFill>
                <a:latin typeface="Segoe UI"/>
              </a:rPr>
              <a:t>— auto-sorted by urgency, with progress bars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334256"/>
            <a:ext cx="548640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334256"/>
            <a:ext cx="54864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3460"/>
                </a:solidFill>
                <a:latin typeface="Segoe UI"/>
              </a:rPr>
              <a:t>🧑‍🏫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379976"/>
            <a:ext cx="46634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Instructor Dashboard  </a:t>
            </a:r>
            <a:r>
              <a:rPr sz="1150" b="0">
                <a:solidFill>
                  <a:srgbClr val="6B7F99"/>
                </a:solidFill>
                <a:latin typeface="Segoe UI"/>
              </a:rPr>
              <a:t>— progress, focus %, and at-risk flags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120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F99"/>
                </a:solidFill>
                <a:latin typeface="Segoe UI"/>
              </a:rPr>
              <a:t>Intentionally out of scope (next phases):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440680"/>
            <a:ext cx="5486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F99"/>
                </a:solidFill>
                <a:latin typeface="Segoe UI"/>
              </a:rPr>
              <a:t>native mobile app · full LMS API · AI task-duration model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How we create and capture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45720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Who we serve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4114800" cy="7772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B2C — UAE university students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Freemium app; premium upgrade for power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4114800" cy="7772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3460"/>
                </a:solidFill>
                <a:latin typeface="Segoe UI"/>
              </a:rPr>
              <a:t>B2B — Universities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Institutional licence per enrolled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How we reach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00600"/>
            <a:ext cx="4206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•  University partnerships &amp; pilots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•  Web platform (self-serve sign-up)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2540"/>
                </a:solidFill>
                <a:latin typeface="Segoe UI"/>
              </a:rPr>
              <a:t>•  Social — TikTok / Instagram student communities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7830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Revenue streams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2194560"/>
            <a:ext cx="6400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49240" y="2194560"/>
            <a:ext cx="109728" cy="841248"/>
          </a:xfrm>
          <a:prstGeom prst="rect">
            <a:avLst/>
          </a:prstGeom>
          <a:solidFill>
            <a:srgbClr val="6B7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2304288"/>
            <a:ext cx="27432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Free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Core tasks + streaks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94560"/>
            <a:ext cx="320040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6B7F99"/>
                </a:solidFill>
                <a:latin typeface="Segoe UI"/>
              </a:rPr>
              <a:t>AED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49240" y="3154680"/>
            <a:ext cx="6400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9240" y="3154680"/>
            <a:ext cx="109728" cy="841248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3264408"/>
            <a:ext cx="27432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Premium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Predictions, focus mode,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154680"/>
            <a:ext cx="320040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D7377"/>
                </a:solidFill>
                <a:latin typeface="Segoe UI"/>
              </a:rPr>
              <a:t>AED 29 / 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9240" y="4114800"/>
            <a:ext cx="6400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4114800"/>
            <a:ext cx="109728" cy="841248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4224528"/>
            <a:ext cx="27432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3460"/>
                </a:solidFill>
                <a:latin typeface="Segoe UI"/>
              </a:rPr>
              <a:t>Institutional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F99"/>
                </a:solidFill>
                <a:latin typeface="Segoe UI"/>
              </a:rPr>
              <a:t>Full platform per university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114800"/>
            <a:ext cx="320040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A5490"/>
                </a:solidFill>
                <a:latin typeface="Segoe UI"/>
              </a:rPr>
              <a:t>AED 15 / student / yr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5166360"/>
            <a:ext cx="6400800" cy="777240"/>
          </a:xfrm>
          <a:prstGeom prst="roundRect">
            <a:avLst/>
          </a:prstGeom>
          <a:solidFill>
            <a:srgbClr val="E7F7F2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5166360"/>
            <a:ext cx="6126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2540"/>
                </a:solidFill>
                <a:latin typeface="Segoe UI"/>
              </a:rPr>
              <a:t>Unit economics: </a:t>
            </a:r>
            <a:r>
              <a:rPr sz="1250" b="0">
                <a:solidFill>
                  <a:srgbClr val="6B7F99"/>
                </a:solidFill>
                <a:latin typeface="Segoe UI"/>
              </a:rPr>
              <a:t>low marginal cost per user (cloud-hosted SaaS) → freemium funnel converts to premium &amp; institutional revenue.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D7377"/>
                </a:solidFill>
                <a:latin typeface="Segoe UI"/>
              </a:rPr>
              <a:t>BUSINESS MODEL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F3460"/>
                </a:solidFill>
                <a:latin typeface="Segoe UI"/>
              </a:rPr>
              <a:t>The full picture on one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17627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64008" cy="315468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627632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KEY PARTNERS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938528"/>
            <a:ext cx="1938528" cy="27340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Universities (ADU etc.)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LMS providers (Blackboard)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Cloud / IT infrastructure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554480"/>
            <a:ext cx="2176272" cy="15316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1554480"/>
            <a:ext cx="64008" cy="153162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9504" y="1627632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KEY ACTIVITIES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1938528"/>
            <a:ext cx="1938528" cy="11109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Platform dev &amp; maintenance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LMS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Student onboarding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3177539"/>
            <a:ext cx="2176272" cy="15316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3177539"/>
            <a:ext cx="64008" cy="153162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9504" y="3250691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KEY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3561587"/>
            <a:ext cx="1938528" cy="11109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Engineering team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Verified-focus technology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Student community &amp;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554480"/>
            <a:ext cx="217627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1554480"/>
            <a:ext cx="64008" cy="3154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1627632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VALUE PROPOSITIONS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1938528"/>
            <a:ext cx="1938528" cy="27340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Verified effort → real grade bonuses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One zero-maintenance deadline 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Competition that builds study habit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1554480"/>
            <a:ext cx="2176272" cy="15316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23760" y="1554480"/>
            <a:ext cx="64008" cy="153162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1627632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CUSTOMER RELATIONSHIPS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1938528"/>
            <a:ext cx="1938528" cy="11109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Self-serve 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In-app support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Community leaderboards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3177539"/>
            <a:ext cx="2176272" cy="15316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3177539"/>
            <a:ext cx="64008" cy="1531620"/>
          </a:xfrm>
          <a:prstGeom prst="rect">
            <a:avLst/>
          </a:prstGeom>
          <a:solidFill>
            <a:srgbClr val="0D7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0064" y="3250691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CHANNELS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4" y="3561587"/>
            <a:ext cx="1938528" cy="11109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University partnerships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Web platform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Social (TikTok / IG)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64040" y="1554480"/>
            <a:ext cx="2176272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64040" y="1554480"/>
            <a:ext cx="64008" cy="3154680"/>
          </a:xfrm>
          <a:prstGeom prst="rect">
            <a:avLst/>
          </a:prstGeom>
          <a:solidFill>
            <a:srgbClr val="1A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10344" y="1627632"/>
            <a:ext cx="1975103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CUSTOMER SEGMENTS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0344" y="1938528"/>
            <a:ext cx="1938528" cy="27340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UAE university students (B2C)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Universities (B2B licensing)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Procrastination-prone learners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800600"/>
            <a:ext cx="5486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800600"/>
            <a:ext cx="64008" cy="1371600"/>
          </a:xfrm>
          <a:prstGeom prst="rect">
            <a:avLst/>
          </a:prstGeom>
          <a:solidFill>
            <a:srgbClr val="E84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4873752"/>
            <a:ext cx="5285232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COST 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5184648"/>
            <a:ext cx="5248656" cy="9509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Development &amp;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Marketing &amp; user acquisition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Customer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3912" y="4800600"/>
            <a:ext cx="55321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53912" y="4800600"/>
            <a:ext cx="64008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0216" y="4873752"/>
            <a:ext cx="5330952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3460"/>
                </a:solidFill>
                <a:latin typeface="Segoe UI"/>
              </a:rPr>
              <a:t>REVENUE STREAMS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5184648"/>
            <a:ext cx="5294376" cy="9509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Premium subscription — AED 29/mo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Institutional licence — AED 15/student/yr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A2540"/>
                </a:solidFill>
                <a:latin typeface="Segoe UI"/>
              </a:rPr>
              <a:t>•  Free tier (top of funnel)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