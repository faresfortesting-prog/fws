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640080"/>
            <a:ext cx="914400" cy="9144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9144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F3460"/>
                </a:solidFill>
                <a:latin typeface="Segoe UI"/>
              </a:rPr>
              <a:t>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658368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StudyStrike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D166"/>
                </a:solidFill>
                <a:latin typeface="Segoe UI"/>
              </a:rPr>
              <a:t>Compete. Excel. Succeed.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What if studying felt like a game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D166"/>
                </a:solidFill>
                <a:latin typeface="Segoe UI"/>
              </a:rPr>
              <a:t>you couldn't afford to lose?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118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5DAF0"/>
                </a:solidFill>
                <a:latin typeface="Segoe UI"/>
              </a:rPr>
              <a:t>Verified focus. Real grade rewards. A productivity platform UAE students actually stick with.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00600"/>
            <a:ext cx="3566160" cy="603504"/>
          </a:xfrm>
          <a:prstGeom prst="roundRect">
            <a:avLst/>
          </a:prstGeom>
          <a:solidFill>
            <a:srgbClr val="143E78"/>
          </a:solidFill>
          <a:ln w="12700">
            <a:solidFill>
              <a:srgbClr val="2E7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55464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Mohamed Fares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D166"/>
                </a:solidFill>
                <a:latin typeface="Segoe UI"/>
              </a:rPr>
              <a:t>Product &amp; 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800600"/>
            <a:ext cx="3566160" cy="603504"/>
          </a:xfrm>
          <a:prstGeom prst="roundRect">
            <a:avLst/>
          </a:prstGeom>
          <a:solidFill>
            <a:srgbClr val="143E78"/>
          </a:solidFill>
          <a:ln w="12700">
            <a:solidFill>
              <a:srgbClr val="2E7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855464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Ayman Hanoun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D166"/>
                </a:solidFill>
                <a:latin typeface="Segoe UI"/>
              </a:rPr>
              <a:t>Front-end &amp; 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4800600"/>
            <a:ext cx="3566160" cy="603504"/>
          </a:xfrm>
          <a:prstGeom prst="roundRect">
            <a:avLst/>
          </a:prstGeom>
          <a:solidFill>
            <a:srgbClr val="143E78"/>
          </a:solidFill>
          <a:ln w="12700">
            <a:solidFill>
              <a:srgbClr val="2E7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1" y="4855464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Faisal Ahmed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D166"/>
                </a:solidFill>
                <a:latin typeface="Segoe UI"/>
              </a:rPr>
              <a:t>Market Research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13832"/>
            <a:ext cx="3566160" cy="603504"/>
          </a:xfrm>
          <a:prstGeom prst="roundRect">
            <a:avLst/>
          </a:prstGeom>
          <a:solidFill>
            <a:srgbClr val="143E78"/>
          </a:solidFill>
          <a:ln w="12700">
            <a:solidFill>
              <a:srgbClr val="2E7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5568696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Ahmed Nabil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D166"/>
                </a:solidFill>
                <a:latin typeface="Segoe UI"/>
              </a:rPr>
              <a:t>Backend &amp;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513832"/>
            <a:ext cx="3566160" cy="603504"/>
          </a:xfrm>
          <a:prstGeom prst="roundRect">
            <a:avLst/>
          </a:prstGeom>
          <a:solidFill>
            <a:srgbClr val="143E78"/>
          </a:solidFill>
          <a:ln w="12700">
            <a:solidFill>
              <a:srgbClr val="2E7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5568696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Omar Mahmoud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D166"/>
                </a:solidFill>
                <a:latin typeface="Segoe UI"/>
              </a:rPr>
              <a:t>Customer Development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5513832"/>
            <a:ext cx="3566160" cy="603504"/>
          </a:xfrm>
          <a:prstGeom prst="roundRect">
            <a:avLst/>
          </a:prstGeom>
          <a:solidFill>
            <a:srgbClr val="143E78"/>
          </a:solidFill>
          <a:ln w="12700">
            <a:solidFill>
              <a:srgbClr val="2E7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1" y="5568696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Mohamed Ali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D166"/>
                </a:solidFill>
                <a:latin typeface="Segoe UI"/>
              </a:rPr>
              <a:t>Business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550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C3E8"/>
                </a:solidFill>
                <a:latin typeface="Segoe UI"/>
              </a:rPr>
              <a:t>FWS310 — Fundamentals of Innovation &amp; Entrepreneurship  |  Spring 2025–2026  |  Instructor: Abdelrahman El Adly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Students don't lack intent — they lack a system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that turns knowing into doing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383280" cy="182880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33832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D166"/>
                </a:solidFill>
                <a:latin typeface="Segoe UI"/>
              </a:rPr>
              <a:t>73%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of students miss at least one deadline every semester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91640"/>
            <a:ext cx="2194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56232"/>
            <a:ext cx="2011679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A5490"/>
                </a:solidFill>
                <a:latin typeface="Segoe UI"/>
              </a:rPr>
              <a:t>5+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532888"/>
            <a:ext cx="2011679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lost weekly to poor prioritisation &amp; procrastination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91640"/>
            <a:ext cx="2194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856232"/>
            <a:ext cx="2011679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A5490"/>
                </a:solidFill>
                <a:latin typeface="Segoe UI"/>
              </a:rPr>
              <a:t>2 in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532888"/>
            <a:ext cx="2011679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say their tools don't fit their real-life schedule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69164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856232"/>
            <a:ext cx="2560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D7377"/>
                </a:solidFill>
                <a:latin typeface="Segoe UI"/>
              </a:rPr>
              <a:t>$1.4B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532888"/>
            <a:ext cx="25603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global edtech-productivity market, growing 9.1%/yr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540"/>
                </a:solidFill>
                <a:latin typeface="Segoe UI"/>
              </a:rPr>
              <a:t>Four root causes we kept hearing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60520"/>
            <a:ext cx="2651760" cy="73152"/>
          </a:xfrm>
          <a:prstGeom prst="rect">
            <a:avLst/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434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Procrastination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46320"/>
            <a:ext cx="2331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F99"/>
                </a:solidFill>
                <a:latin typeface="Segoe UI"/>
              </a:rPr>
              <a:t>Students delay starting even when the deadline is known.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416052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0128" y="4160520"/>
            <a:ext cx="2651760" cy="73152"/>
          </a:xfrm>
          <a:prstGeom prst="rect">
            <a:avLst/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3008" y="43434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Emotional barriers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846320"/>
            <a:ext cx="2331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F99"/>
                </a:solidFill>
                <a:latin typeface="Segoe UI"/>
              </a:rPr>
              <a:t>Anxiety &amp; guilt block action — not a lack of knowledge.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17336" y="416052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17336" y="4160520"/>
            <a:ext cx="2651760" cy="73152"/>
          </a:xfrm>
          <a:prstGeom prst="rect">
            <a:avLst/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43434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Broken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4846320"/>
            <a:ext cx="2331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F99"/>
                </a:solidFill>
                <a:latin typeface="Segoe UI"/>
              </a:rPr>
              <a:t>Planners need constant manual upkeep, so they get abandoned.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4544" y="416052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24544" y="4160520"/>
            <a:ext cx="2651760" cy="73152"/>
          </a:xfrm>
          <a:prstGeom prst="rect">
            <a:avLst/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07424" y="43434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One size fits none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4846320"/>
            <a:ext cx="2331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F99"/>
                </a:solidFill>
                <a:latin typeface="Segoe UI"/>
              </a:rPr>
              <a:t>Commuters, workers, ESL learners — generic tools fail them all.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F99"/>
                </a:solidFill>
                <a:latin typeface="Segoe UI"/>
              </a:rPr>
              <a:t>Sources: UAE student time-management survey (n=120, 2025); Statista EdTech productivity market,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WHAT THE RESEARCH TOLD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Four insights that point to one belief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097280" cy="1874519"/>
          </a:xfrm>
          <a:prstGeom prst="rect">
            <a:avLst/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097280" cy="18745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A5490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84248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3460"/>
                </a:solidFill>
                <a:latin typeface="Segoe UI"/>
              </a:rPr>
              <a:t>Knowing ≠ Acting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32888"/>
            <a:ext cx="3886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F99"/>
                </a:solidFill>
                <a:latin typeface="Segoe UI"/>
              </a:rPr>
              <a:t>Students know deadlines but have no system that converts them into a daily start-point.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1097280" cy="1874519"/>
          </a:xfrm>
          <a:prstGeom prst="rect">
            <a:avLst/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1097280" cy="18745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A5490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984248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3460"/>
                </a:solidFill>
                <a:latin typeface="Segoe UI"/>
              </a:rPr>
              <a:t>It's emotional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532888"/>
            <a:ext cx="3886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F99"/>
                </a:solidFill>
                <a:latin typeface="Segoe UI"/>
              </a:rPr>
              <a:t>Procrastination is an emotion-regulation problem — tasks must be made to feel manageable.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097280" cy="1874519"/>
          </a:xfrm>
          <a:prstGeom prst="rect">
            <a:avLst/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40480"/>
            <a:ext cx="1097280" cy="18745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A5490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33088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3460"/>
                </a:solidFill>
                <a:latin typeface="Segoe UI"/>
              </a:rPr>
              <a:t>Maintenance overload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81728"/>
            <a:ext cx="3886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F99"/>
                </a:solidFill>
                <a:latin typeface="Segoe UI"/>
              </a:rPr>
              <a:t>Manual planners pile admin onto academic load. Auto-sync isn't a nice-to-have — it's essential.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84048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840480"/>
            <a:ext cx="1097280" cy="1874519"/>
          </a:xfrm>
          <a:prstGeom prst="rect">
            <a:avLst/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840480"/>
            <a:ext cx="1097280" cy="18745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A5490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133088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3460"/>
                </a:solidFill>
                <a:latin typeface="Segoe UI"/>
              </a:rPr>
              <a:t>No one-size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681728"/>
            <a:ext cx="3886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F99"/>
                </a:solidFill>
                <a:latin typeface="Segoe UI"/>
              </a:rPr>
              <a:t>Commuters, ESL learners and club leaders all need adaptive, context-aware scheduling.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D7377"/>
                </a:solidFill>
                <a:latin typeface="Segoe UI"/>
              </a:rPr>
              <a:t>These four insights converge on a single conviction → </a:t>
            </a:r>
            <a:r>
              <a:rPr sz="1500" b="1">
                <a:solidFill>
                  <a:srgbClr val="0F3460"/>
                </a:solidFill>
                <a:latin typeface="Segoe UI"/>
              </a:rPr>
              <a:t>our Golden Circle.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OUR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We start with why students don't act</a:t>
            </a:r>
          </a:p>
        </p:txBody>
      </p:sp>
      <p:pic>
        <p:nvPicPr>
          <p:cNvPr id="6" name="Picture 5" descr="golden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92659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Introducing StudyStrike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577840" cy="420624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93776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A gamified academic platform that turns assignment management into a motivating, competitive game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D166"/>
                </a:solidFill>
                <a:latin typeface="Segoe UI"/>
              </a:rPr>
              <a:t>helping UAE students start earlier, stay focused, and hit every deadline.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540"/>
                </a:solidFill>
                <a:latin typeface="Segoe UI"/>
              </a:rPr>
              <a:t>The 'How Might We?' questions that shaped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548640" cy="548640"/>
          </a:xfrm>
          <a:prstGeom prst="round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286000"/>
            <a:ext cx="46177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2540"/>
                </a:solidFill>
                <a:latin typeface="Segoe UI"/>
              </a:rPr>
              <a:t>Help students stay focused without social-media distractions?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35808"/>
            <a:ext cx="548640" cy="548640"/>
          </a:xfrm>
          <a:prstGeom prst="round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035808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035808"/>
            <a:ext cx="46177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2540"/>
                </a:solidFill>
                <a:latin typeface="Segoe UI"/>
              </a:rPr>
              <a:t>Motivate with streaks, rewards, and live leaderboards?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785615"/>
            <a:ext cx="548640" cy="548640"/>
          </a:xfrm>
          <a:prstGeom prst="round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85615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785615"/>
            <a:ext cx="46177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2540"/>
                </a:solidFill>
                <a:latin typeface="Segoe UI"/>
              </a:rPr>
              <a:t>Give one single view of every deadline and task?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35424"/>
            <a:ext cx="548640" cy="548640"/>
          </a:xfrm>
          <a:prstGeom prst="round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535424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535424"/>
            <a:ext cx="46177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2540"/>
                </a:solidFill>
                <a:latin typeface="Segoe UI"/>
              </a:rPr>
              <a:t>Push students to start early instead of last-minute?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285231"/>
            <a:ext cx="548640" cy="548640"/>
          </a:xfrm>
          <a:prstGeom prst="round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285231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5285231"/>
            <a:ext cx="46177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2540"/>
                </a:solidFill>
                <a:latin typeface="Segoe UI"/>
              </a:rPr>
              <a:t>Adapt to each student's unique schedule and habits?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Built around one moat: verified effort that earns real rewards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61188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93391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3460"/>
                </a:solidFill>
                <a:latin typeface="Segoe UI"/>
              </a:rPr>
              <a:t>🔒 Verified Focus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97480"/>
            <a:ext cx="324612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F99"/>
                </a:solidFill>
                <a:latin typeface="Segoe UI"/>
              </a:rPr>
              <a:t>Webcam + screen presence confirm real focus — points are earned, not gamed.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901952"/>
            <a:ext cx="713232" cy="310896"/>
          </a:xfrm>
          <a:prstGeom prst="round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901952"/>
            <a:ext cx="713232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F3460"/>
                </a:solidFill>
                <a:latin typeface="Segoe UI"/>
              </a:rPr>
              <a:t>MOAT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73736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737360"/>
            <a:ext cx="3611880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993391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3460"/>
                </a:solidFill>
                <a:latin typeface="Segoe UI"/>
              </a:rPr>
              <a:t>🏆 Grade-linked Leaderboard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697480"/>
            <a:ext cx="324612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F99"/>
                </a:solidFill>
                <a:latin typeface="Segoe UI"/>
              </a:rPr>
              <a:t>Live weekly rankings per course. Top performers earn up to +2% on their grade.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3448" y="1901952"/>
            <a:ext cx="713232" cy="310896"/>
          </a:xfrm>
          <a:prstGeom prst="round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3448" y="1901952"/>
            <a:ext cx="713232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F3460"/>
                </a:solidFill>
                <a:latin typeface="Segoe UI"/>
              </a:rPr>
              <a:t>MOAT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173736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6" y="1737360"/>
            <a:ext cx="3611880" cy="9144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993391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3460"/>
                </a:solidFill>
                <a:latin typeface="Segoe UI"/>
              </a:rPr>
              <a:t>🔥 Streak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324612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F99"/>
                </a:solidFill>
                <a:latin typeface="Segoe UI"/>
              </a:rPr>
              <a:t>A daily study streak builds momentum and habit through visual consistency.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0776" y="1901952"/>
            <a:ext cx="713232" cy="310896"/>
          </a:xfrm>
          <a:prstGeom prst="round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0776" y="1901952"/>
            <a:ext cx="713232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F3460"/>
                </a:solidFill>
                <a:latin typeface="Segoe UI"/>
              </a:rPr>
              <a:t>MOAT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40479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840479"/>
            <a:ext cx="3611880" cy="9144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4096511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3460"/>
                </a:solidFill>
                <a:latin typeface="Segoe UI"/>
              </a:rPr>
              <a:t>📋 Smart Task Prioritiser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800599"/>
            <a:ext cx="324612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F99"/>
                </a:solidFill>
                <a:latin typeface="Segoe UI"/>
              </a:rPr>
              <a:t>Auto-sorted task list with urgency labels, progress bars and time estimates.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3840479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3840479"/>
            <a:ext cx="3611880" cy="9144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4096511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3460"/>
                </a:solidFill>
                <a:latin typeface="Segoe UI"/>
              </a:rPr>
              <a:t>📈 Predictions &amp; Stats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4800599"/>
            <a:ext cx="324612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F99"/>
                </a:solidFill>
                <a:latin typeface="Segoe UI"/>
              </a:rPr>
              <a:t>Grade and rank projection over the next four weeks to keep students ahead.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7576" y="3840479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37576" y="3840479"/>
            <a:ext cx="3611880" cy="9144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8744" y="4096511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3460"/>
                </a:solidFill>
                <a:latin typeface="Segoe UI"/>
              </a:rPr>
              <a:t>🧑‍🏫 Instructor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4800599"/>
            <a:ext cx="324612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F99"/>
                </a:solidFill>
                <a:latin typeface="Segoe UI"/>
              </a:rPr>
              <a:t>Teachers see progress, focus % and at-risk students — and apply the bonuses.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From sign-up to habit in six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640080" cy="640080"/>
          </a:xfrm>
          <a:prstGeom prst="round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21408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Register &amp; link 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4320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Connect Blackboard / MyADU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8" y="228600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6B7F99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82880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8848" y="2103120"/>
            <a:ext cx="640080" cy="640080"/>
          </a:xfrm>
          <a:prstGeom prst="round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1031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121408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Tasks auto-imported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74320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Deadlines pulled in &amp; prioritised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6" y="228600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6B7F99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1828800"/>
            <a:ext cx="3383280" cy="1737360"/>
          </a:xfrm>
          <a:prstGeom prst="roundRect">
            <a:avLst/>
          </a:prstGeom>
          <a:solidFill>
            <a:srgbClr val="0F3460"/>
          </a:solidFill>
          <a:ln w="254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66176" y="2103120"/>
            <a:ext cx="640080" cy="6400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1031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346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121408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Verified study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74320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D166"/>
                </a:solidFill>
                <a:latin typeface="Segoe UI"/>
              </a:rPr>
              <a:t>Focus Monitor on · points per minute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3192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640080" cy="640080"/>
          </a:xfrm>
          <a:prstGeom prst="round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224528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Points &amp; streak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84632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Streak +1 · leaderboard refreshes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4488" y="438912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6B7F99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0248" y="393192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98848" y="4206240"/>
            <a:ext cx="640080" cy="640080"/>
          </a:xfrm>
          <a:prstGeom prst="round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42062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088" y="4224528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Review predictions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484632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4-week projected rank &amp; grade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1816" y="438912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6B7F99"/>
                </a:solidFill>
                <a:latin typeface="Segoe U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37576" y="393192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66176" y="4206240"/>
            <a:ext cx="640080" cy="640080"/>
          </a:xfrm>
          <a:prstGeom prst="round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6" y="42062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3416" y="4224528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Earn grade bonus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3416" y="484632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Top finish → instructor applies bonus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989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Step 3 is the magic moment — </a:t>
            </a:r>
            <a:r>
              <a:rPr sz="1350" b="0">
                <a:solidFill>
                  <a:srgbClr val="1A2540"/>
                </a:solidFill>
                <a:latin typeface="Segoe UI"/>
              </a:rPr>
              <a:t>verified focus is what makes every point trustworthy.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PROTOTYPE — LIVE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This isn't a mock-up. The product runs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3460"/>
                </a:solidFill>
                <a:latin typeface="Segoe UI"/>
              </a:rPr>
              <a:t>Focus Dashboard — home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5A623"/>
                </a:solidFill>
                <a:latin typeface="Segoe UI"/>
              </a:rPr>
              <a:t>🔥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18688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day streak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37744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542032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A5490"/>
                </a:solidFill>
                <a:latin typeface="Segoe UI"/>
              </a:rPr>
              <a:t>⭐ 3,850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18688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total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F99"/>
                </a:solidFill>
                <a:latin typeface="Segoe UI"/>
              </a:rPr>
              <a:t>Current semester rewards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1207008" cy="15544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1207008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12070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1st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2070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D7377"/>
                </a:solidFill>
                <a:latin typeface="Segoe UI"/>
              </a:rPr>
              <a:t>+2%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F99"/>
                </a:solidFill>
                <a:latin typeface="Segoe UI"/>
              </a:rPr>
              <a:t>grade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29967" y="4114800"/>
            <a:ext cx="1207008" cy="15544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29967" y="4114800"/>
            <a:ext cx="1207008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9967" y="4251960"/>
            <a:ext cx="12070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2nd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7" y="4754880"/>
            <a:ext cx="12070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D7377"/>
                </a:solidFill>
                <a:latin typeface="Segoe UI"/>
              </a:rPr>
              <a:t>+1.5%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7" y="5212080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F99"/>
                </a:solidFill>
                <a:latin typeface="Segoe UI"/>
              </a:rPr>
              <a:t>grade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8415" y="4114800"/>
            <a:ext cx="1207008" cy="15544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28415" y="4114800"/>
            <a:ext cx="1207008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5" y="4251960"/>
            <a:ext cx="12070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3rd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5" y="4754880"/>
            <a:ext cx="12070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D7377"/>
                </a:solidFill>
                <a:latin typeface="Segoe UI"/>
              </a:rPr>
              <a:t>+1%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8415" y="5212080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F99"/>
                </a:solidFill>
                <a:latin typeface="Segoe UI"/>
              </a:rPr>
              <a:t>grade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26864" y="4114800"/>
            <a:ext cx="1207008" cy="15544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26864" y="4114800"/>
            <a:ext cx="1207008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4251960"/>
            <a:ext cx="12070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Top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4754880"/>
            <a:ext cx="12070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D7377"/>
                </a:solidFill>
                <a:latin typeface="Segoe UI"/>
              </a:rPr>
              <a:t>+0.5%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5212080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F99"/>
                </a:solidFill>
                <a:latin typeface="Segoe UI"/>
              </a:rPr>
              <a:t>grade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173736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3460"/>
                </a:solidFill>
                <a:latin typeface="Segoe UI"/>
              </a:rPr>
              <a:t>Leaderboard — weekly rankings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377440"/>
            <a:ext cx="50292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2377440"/>
            <a:ext cx="640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2377440"/>
            <a:ext cx="21031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F3460"/>
                </a:solidFill>
                <a:latin typeface="Segoe UI"/>
              </a:rPr>
              <a:t>Alex Chen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77440"/>
            <a:ext cx="9144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F99"/>
                </a:solidFill>
                <a:latin typeface="Segoe UI"/>
              </a:rPr>
              <a:t>🔥 28d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2377440"/>
            <a:ext cx="822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5490"/>
                </a:solidFill>
                <a:latin typeface="Segoe UI"/>
              </a:rPr>
              <a:t>4,520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0" y="2377440"/>
            <a:ext cx="5486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7377"/>
                </a:solidFill>
                <a:latin typeface="Segoe UI"/>
              </a:rPr>
              <a:t>+2.0%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054096"/>
            <a:ext cx="50292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3054096"/>
            <a:ext cx="640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3054096"/>
            <a:ext cx="21031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F3460"/>
                </a:solidFill>
                <a:latin typeface="Segoe UI"/>
              </a:rPr>
              <a:t>Jordan Smith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054096"/>
            <a:ext cx="9144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F99"/>
                </a:solidFill>
                <a:latin typeface="Segoe UI"/>
              </a:rPr>
              <a:t>🔥 24d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3054096"/>
            <a:ext cx="822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5490"/>
                </a:solidFill>
                <a:latin typeface="Segoe UI"/>
              </a:rPr>
              <a:t>4,180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5640" y="3054096"/>
            <a:ext cx="5486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7377"/>
                </a:solidFill>
                <a:latin typeface="Segoe UI"/>
              </a:rPr>
              <a:t>+1.5%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3730752"/>
            <a:ext cx="5029200" cy="603504"/>
          </a:xfrm>
          <a:prstGeom prst="roundRect">
            <a:avLst/>
          </a:prstGeom>
          <a:solidFill>
            <a:srgbClr val="EEF4FD"/>
          </a:solidFill>
          <a:ln w="12700">
            <a:solidFill>
              <a:srgbClr val="1A5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3730752"/>
            <a:ext cx="640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3730752"/>
            <a:ext cx="21031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3460"/>
                </a:solidFill>
                <a:latin typeface="Segoe UI"/>
              </a:rPr>
              <a:t>You (You)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3730752"/>
            <a:ext cx="9144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F99"/>
                </a:solidFill>
                <a:latin typeface="Segoe UI"/>
              </a:rPr>
              <a:t>🔥 19d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12680" y="3730752"/>
            <a:ext cx="822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5490"/>
                </a:solidFill>
                <a:latin typeface="Segoe UI"/>
              </a:rPr>
              <a:t>3,850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35640" y="3730752"/>
            <a:ext cx="5486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7377"/>
                </a:solidFill>
                <a:latin typeface="Segoe UI"/>
              </a:rPr>
              <a:t>+1.0%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4407408"/>
            <a:ext cx="50292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0528" y="4407408"/>
            <a:ext cx="640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#4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4407408"/>
            <a:ext cx="21031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F3460"/>
                </a:solidFill>
                <a:latin typeface="Segoe UI"/>
              </a:rPr>
              <a:t>Morgan Lee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4407408"/>
            <a:ext cx="9144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F99"/>
                </a:solidFill>
                <a:latin typeface="Segoe UI"/>
              </a:rPr>
              <a:t>🔥 15d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4407408"/>
            <a:ext cx="822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5490"/>
                </a:solidFill>
                <a:latin typeface="Segoe UI"/>
              </a:rPr>
              <a:t>3,620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35640" y="4407408"/>
            <a:ext cx="5486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7377"/>
                </a:solidFill>
                <a:latin typeface="Segoe UI"/>
              </a:rPr>
              <a:t>+0.5%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5084064"/>
            <a:ext cx="50292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0528" y="5084064"/>
            <a:ext cx="640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#5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78040" y="5084064"/>
            <a:ext cx="21031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F3460"/>
                </a:solidFill>
                <a:latin typeface="Segoe UI"/>
              </a:rPr>
              <a:t>Casey Brown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5084064"/>
            <a:ext cx="9144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F99"/>
                </a:solidFill>
                <a:latin typeface="Segoe UI"/>
              </a:rPr>
              <a:t>🔥 12d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12680" y="5084064"/>
            <a:ext cx="822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5490"/>
                </a:solidFill>
                <a:latin typeface="Segoe UI"/>
              </a:rPr>
              <a:t>3,210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35640" y="5084064"/>
            <a:ext cx="5486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7377"/>
                </a:solidFill>
                <a:latin typeface="Segoe UI"/>
              </a:rPr>
              <a:t>+0.5%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F99"/>
                </a:solidFill>
                <a:latin typeface="Segoe UI"/>
              </a:rPr>
              <a:t>Live demo available: the verified Focus Monitor flips green → red the moment a student looks away or opens off-task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PROTOTYPE — ANALYTICS &amp;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Predictions keep students ahead; the task view tells them what to do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3460"/>
                </a:solidFill>
                <a:latin typeface="Segoe UI"/>
              </a:rPr>
              <a:t>Predictions &amp;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A5490"/>
                </a:solidFill>
                <a:latin typeface="Segoe UI"/>
              </a:rPr>
              <a:t>3,850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15768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Total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31720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A5490"/>
                </a:solidFill>
                <a:latin typeface="Segoe UI"/>
              </a:rPr>
              <a:t>19d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715768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Streak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A5490"/>
                </a:solidFill>
                <a:latin typeface="Segoe UI"/>
              </a:rPr>
              <a:t>110%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30168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Weekly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46120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A5490"/>
                </a:solidFill>
                <a:latin typeface="Segoe UI"/>
              </a:rP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630168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On-Time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F99"/>
                </a:solidFill>
                <a:latin typeface="Segoe UI"/>
              </a:rPr>
              <a:t>Predicted performance (next 4 weeks)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1207008" cy="1005840"/>
          </a:xfrm>
          <a:prstGeom prst="roundRect">
            <a:avLst/>
          </a:prstGeom>
          <a:solidFill>
            <a:srgbClr val="EEF4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73168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F99"/>
                </a:solidFill>
                <a:latin typeface="Segoe UI"/>
              </a:rPr>
              <a:t>W1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~550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40680"/>
            <a:ext cx="120700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7377"/>
                </a:solidFill>
                <a:latin typeface="Segoe UI"/>
              </a:rPr>
              <a:t>3rd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29967" y="4709160"/>
            <a:ext cx="1207008" cy="1005840"/>
          </a:xfrm>
          <a:prstGeom prst="roundRect">
            <a:avLst/>
          </a:prstGeom>
          <a:solidFill>
            <a:srgbClr val="EEF4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9967" y="4773168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F99"/>
                </a:solidFill>
                <a:latin typeface="Segoe UI"/>
              </a:rPr>
              <a:t>W2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7" y="5074920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~605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7" y="5440680"/>
            <a:ext cx="120700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7377"/>
                </a:solidFill>
                <a:latin typeface="Segoe UI"/>
              </a:rPr>
              <a:t>3rd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8415" y="4709160"/>
            <a:ext cx="1207008" cy="1005840"/>
          </a:xfrm>
          <a:prstGeom prst="roundRect">
            <a:avLst/>
          </a:prstGeom>
          <a:solidFill>
            <a:srgbClr val="EEF4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5" y="4773168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F99"/>
                </a:solidFill>
                <a:latin typeface="Segoe UI"/>
              </a:rPr>
              <a:t>W3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8415" y="5074920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~680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5" y="5440680"/>
            <a:ext cx="120700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7377"/>
                </a:solidFill>
                <a:latin typeface="Segoe UI"/>
              </a:rPr>
              <a:t>2nd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26864" y="4709160"/>
            <a:ext cx="1207008" cy="1005840"/>
          </a:xfrm>
          <a:prstGeom prst="roundRect">
            <a:avLst/>
          </a:prstGeom>
          <a:solidFill>
            <a:srgbClr val="EEF4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4773168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F99"/>
                </a:solidFill>
                <a:latin typeface="Segoe UI"/>
              </a:rPr>
              <a:t>W4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5074920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3460"/>
                </a:solidFill>
                <a:latin typeface="Segoe UI"/>
              </a:rPr>
              <a:t>~745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5440680"/>
            <a:ext cx="120700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7377"/>
                </a:solidFill>
                <a:latin typeface="Segoe UI"/>
              </a:rPr>
              <a:t>1st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173736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3460"/>
                </a:solidFill>
                <a:latin typeface="Segoe UI"/>
              </a:rPr>
              <a:t>Task progress — prioritised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377440"/>
            <a:ext cx="502920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377440"/>
            <a:ext cx="82296" cy="1005840"/>
          </a:xfrm>
          <a:prstGeom prst="rect">
            <a:avLst/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32720" y="2542032"/>
            <a:ext cx="960120" cy="329184"/>
          </a:xfrm>
          <a:prstGeom prst="roundRect">
            <a:avLst/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2542032"/>
            <a:ext cx="960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Due soon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560320"/>
            <a:ext cx="3657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3460"/>
                </a:solidFill>
                <a:latin typeface="Segoe UI"/>
              </a:rPr>
              <a:t>Advanced Calculus – Problem Set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2980944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F99"/>
                </a:solidFill>
                <a:latin typeface="Segoe UI"/>
              </a:rPr>
              <a:t>MATH 401 · 85% · Today 11:59 PM · 100 pts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520440"/>
            <a:ext cx="502920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520440"/>
            <a:ext cx="82296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332720" y="3685032"/>
            <a:ext cx="960120" cy="32918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20" y="3685032"/>
            <a:ext cx="960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Urgent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3703320"/>
            <a:ext cx="3657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3460"/>
                </a:solidFill>
                <a:latin typeface="Segoe UI"/>
              </a:rPr>
              <a:t>Organic Chemistry Midterm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4123944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F99"/>
                </a:solidFill>
                <a:latin typeface="Segoe UI"/>
              </a:rPr>
              <a:t>CHEM 301 · 30% · Tomorrow 2 PM · 250 pts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4663440"/>
            <a:ext cx="502920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4663440"/>
            <a:ext cx="82296" cy="100584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32720" y="4828031"/>
            <a:ext cx="960120" cy="329184"/>
          </a:xfrm>
          <a:prstGeom prst="round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0" y="4828031"/>
            <a:ext cx="960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Upcoming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4846320"/>
            <a:ext cx="3657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3460"/>
                </a:solidFill>
                <a:latin typeface="Segoe UI"/>
              </a:rPr>
              <a:t>Physics Pop Quiz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5266944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F99"/>
                </a:solidFill>
                <a:latin typeface="Segoe UI"/>
              </a:rPr>
              <a:t>PHYS 200 · 0% · In 2 days · 50 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Our 5-student pilot proved the hook — and showed us what to build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F99"/>
                </a:solidFill>
                <a:latin typeface="Segoe UI"/>
              </a:rPr>
              <a:t>5 students · 1 week · Google Form + WhatsApp leaderboard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651760" cy="155448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D166"/>
                </a:solidFill>
                <a:latin typeface="Segoe UI"/>
              </a:rPr>
              <a:t>5/5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found tasks easier to complete vs. the prior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82880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01168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5490"/>
                </a:solidFill>
                <a:latin typeface="Segoe UI"/>
              </a:rPr>
              <a:t>3/5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60604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named leaderboard competition as their main motivator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82880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7336" y="201168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5490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60604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did extra revision purely to protect a streak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182880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4544" y="201168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5490"/>
                </a:solidFill>
                <a:latin typeface="Segoe UI"/>
              </a:rPr>
              <a:t>2/5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60604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F99"/>
                </a:solidFill>
                <a:latin typeface="Segoe UI"/>
              </a:rPr>
              <a:t>used prioritisation to choose what to tackle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11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540"/>
                </a:solidFill>
                <a:latin typeface="Segoe UI"/>
              </a:rPr>
              <a:t>Every issue raised, we've since acted 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14800"/>
            <a:ext cx="539496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4114800"/>
            <a:ext cx="5669280" cy="530352"/>
          </a:xfrm>
          <a:prstGeom prst="rect">
            <a:avLst/>
          </a:prstGeom>
          <a:solidFill>
            <a:srgbClr val="0F3460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521208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Issue raised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114800"/>
            <a:ext cx="539496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Proposed / built fix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81728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4681728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81728"/>
            <a:ext cx="521208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Manual Google-Form entry was clunky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681728"/>
            <a:ext cx="539496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Native in-app task logging + LMS auto-sync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248656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5248656"/>
            <a:ext cx="5669280" cy="530352"/>
          </a:xfrm>
          <a:prstGeom prst="rect">
            <a:avLst/>
          </a:prstGeom>
          <a:solidFill>
            <a:srgbClr val="E7F7F2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48656"/>
            <a:ext cx="521208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No way to stop point-cheating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248656"/>
            <a:ext cx="539496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7377"/>
                </a:solidFill>
                <a:latin typeface="Segoe UI"/>
              </a:rPr>
              <a:t>✓ BUILT: verified Focus Monitor (webcam + screen)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815583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9320" y="5815583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815583"/>
            <a:ext cx="521208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Streak lost if internet dropped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815583"/>
            <a:ext cx="539496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Offline mode + streak-freeze (roadmap)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We connect every pain to a feature — and a feeling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384048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566160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Student pain (their words)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783080"/>
            <a:ext cx="370332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429000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StudyStrike 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783080"/>
            <a:ext cx="3456432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182112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The benefit they feel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566160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“I know the deadline, I just don't start.”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651760"/>
            <a:ext cx="3703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429000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Smart prioritiser + daily start-points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651760"/>
            <a:ext cx="3456432" cy="804672"/>
          </a:xfrm>
          <a:prstGeom prst="rect">
            <a:avLst/>
          </a:prstGeom>
          <a:solidFill>
            <a:srgbClr val="E7F7F2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651760"/>
            <a:ext cx="3182112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7377"/>
                </a:solidFill>
                <a:latin typeface="Segoe UI"/>
              </a:rPr>
              <a:t>Anxiety becomes one obvious next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20439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20439"/>
            <a:ext cx="3566160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“Planners are work on top of work.”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520439"/>
            <a:ext cx="3703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520439"/>
            <a:ext cx="3429000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LMS auto-import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520439"/>
            <a:ext cx="3456432" cy="804672"/>
          </a:xfrm>
          <a:prstGeom prst="rect">
            <a:avLst/>
          </a:prstGeom>
          <a:solidFill>
            <a:srgbClr val="E7F7F2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520439"/>
            <a:ext cx="3182112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7377"/>
                </a:solidFill>
                <a:latin typeface="Segoe UI"/>
              </a:rPr>
              <a:t>Zero maintenance — deadlines just appear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8912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3566160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“Nothing makes studying feel worth it.”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389120"/>
            <a:ext cx="3703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389120"/>
            <a:ext cx="3429000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Grade-linked leaderboard &amp; streaks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389120"/>
            <a:ext cx="3456432" cy="804672"/>
          </a:xfrm>
          <a:prstGeom prst="rect">
            <a:avLst/>
          </a:prstGeom>
          <a:solidFill>
            <a:srgbClr val="E7F7F2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389120"/>
            <a:ext cx="3182112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7377"/>
                </a:solidFill>
                <a:latin typeface="Segoe UI"/>
              </a:rPr>
              <a:t>Effort becomes a grade investment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5780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57800"/>
            <a:ext cx="3566160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“I get distracted / cheat my own timer.”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5257800"/>
            <a:ext cx="3703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5257800"/>
            <a:ext cx="3429000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Verified Focus Monitor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5257800"/>
            <a:ext cx="3456432" cy="804672"/>
          </a:xfrm>
          <a:prstGeom prst="rect">
            <a:avLst/>
          </a:prstGeom>
          <a:solidFill>
            <a:srgbClr val="E7F7F2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5257800"/>
            <a:ext cx="3182112" cy="8046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7377"/>
                </a:solidFill>
                <a:latin typeface="Segoe UI"/>
              </a:rPr>
              <a:t>Points you — and your instructor — can trust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172200"/>
            <a:ext cx="11155680" cy="50292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172200"/>
            <a:ext cx="11155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The only student tool where </a:t>
            </a:r>
            <a:r>
              <a:rPr sz="1300" b="1">
                <a:solidFill>
                  <a:srgbClr val="FFD166"/>
                </a:solidFill>
                <a:latin typeface="Segoe UI"/>
              </a:rPr>
              <a:t>verified daily effort converts into real grade bonuses</a:t>
            </a:r>
            <a:r>
              <a:rPr sz="1300" b="0">
                <a:solidFill>
                  <a:srgbClr val="FFFFFF"/>
                </a:solidFill>
                <a:latin typeface="Segoe UI"/>
              </a:rPr>
              <a:t> — a trust loop no leaderboard can fake.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A growing market, a focused beachhead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047" y="1783080"/>
            <a:ext cx="10515600" cy="114300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3807" y="1783080"/>
            <a:ext cx="20116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D166"/>
                </a:solidFill>
                <a:latin typeface="Segoe UI"/>
              </a:rPr>
              <a:t>TAM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$1.4B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247" y="1783080"/>
            <a:ext cx="7498079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Global edtech-productivity market (2023) → $2.7B by 2031 @ 9.1% CAGR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09647" y="3108960"/>
            <a:ext cx="7772400" cy="1143000"/>
          </a:xfrm>
          <a:prstGeom prst="round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5407" y="3108960"/>
            <a:ext cx="20116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D166"/>
                </a:solidFill>
                <a:latin typeface="Segoe UI"/>
              </a:rPr>
              <a:t>SAM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$85M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47" y="3108960"/>
            <a:ext cx="47548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UAE + GCC higher-ed productivity tools (2025 estimate)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1247" y="4434840"/>
            <a:ext cx="5029200" cy="1143000"/>
          </a:xfrm>
          <a:prstGeom prst="round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47007" y="4434840"/>
            <a:ext cx="20116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D166"/>
                </a:solidFill>
                <a:latin typeface="Segoe UI"/>
              </a:rPr>
              <a:t>SOM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$4–8M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4434840"/>
            <a:ext cx="20116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5–10% UAE share targeted within 3 years of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350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540"/>
                </a:solidFill>
                <a:latin typeface="Segoe UI"/>
              </a:rPr>
              <a:t>Revenue model:  </a:t>
            </a:r>
            <a:r>
              <a:rPr sz="1300" b="0">
                <a:solidFill>
                  <a:srgbClr val="6B7F99"/>
                </a:solidFill>
                <a:latin typeface="Segoe UI"/>
              </a:rPr>
              <a:t>Free tier · Premium AED 29/mo · Institutional licence AED 15/student/yr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COMPETITIVE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We own the empty corner of the market</a:t>
            </a:r>
          </a:p>
        </p:txBody>
      </p:sp>
      <p:pic>
        <p:nvPicPr>
          <p:cNvPr id="6" name="Picture 5" descr="positioning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89408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554480"/>
            <a:ext cx="3840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Positioning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40280"/>
            <a:ext cx="342900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540"/>
                </a:solidFill>
                <a:latin typeface="Segoe UI"/>
              </a:rPr>
              <a:t>For UAE students who struggle to meet deadlines, StudyStrike turns assignments into competitive, motivating challenges — unlike generic tools that ignore grades and schedules.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977639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Why we 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434840"/>
            <a:ext cx="34290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540"/>
                </a:solidFill>
                <a:latin typeface="Segoe UI"/>
              </a:rPr>
              <a:t>A leaderboard can be copied. A </a:t>
            </a:r>
            <a:r>
              <a:rPr sz="1200" b="1">
                <a:solidFill>
                  <a:srgbClr val="0F3460"/>
                </a:solidFill>
                <a:latin typeface="Segoe UI"/>
              </a:rPr>
              <a:t>verified</a:t>
            </a:r>
            <a:r>
              <a:rPr sz="1200" b="0">
                <a:solidFill>
                  <a:srgbClr val="1A2540"/>
                </a:solidFill>
                <a:latin typeface="Segoe UI"/>
              </a:rPr>
              <a:t> link between daily effort and real grades cannot.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CUSTOMER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We didn't guess — we interviewed, then built what they asked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611880" cy="82296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Ahmed,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D166"/>
                </a:solidFill>
                <a:latin typeface="Segoe UI"/>
              </a:rPr>
              <a:t>2nd-yr Engineering · part-time tutor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D7377"/>
                </a:solidFill>
                <a:latin typeface="Segoe UI"/>
              </a:rPr>
              <a:t>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35808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Balance tutoring shifts with heavy lab reports.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D7377"/>
                </a:solidFill>
                <a:latin typeface="Segoe UI"/>
              </a:rPr>
              <a:t>WILLING TO 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33087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5490"/>
                </a:solidFill>
                <a:latin typeface="Segoe UI"/>
              </a:rPr>
              <a:t>AED 25–35/mo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D7377"/>
                </a:solidFill>
                <a:latin typeface="Segoe UI"/>
              </a:rPr>
              <a:t>SUGGESTED → WE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0328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Asked for a 'work-shift blocker' → added to roadmap. Joined beta.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73736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737360"/>
            <a:ext cx="3611880" cy="82296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8288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Sara, 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21284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D166"/>
                </a:solidFill>
                <a:latin typeface="Segoe UI"/>
              </a:rPr>
              <a:t>3rd-yr Business · group-project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743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D7377"/>
                </a:solidFill>
                <a:latin typeface="Segoe UI"/>
              </a:rPr>
              <a:t>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035808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Group deadlines scattered across WhatsApp &amp; email.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8404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D7377"/>
                </a:solidFill>
                <a:latin typeface="Segoe UI"/>
              </a:rPr>
              <a:t>WILLING TO PAY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33087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5490"/>
                </a:solidFill>
                <a:latin typeface="Segoe UI"/>
              </a:rPr>
              <a:t>AED 20–30/mo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6177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D7377"/>
                </a:solidFill>
                <a:latin typeface="Segoe UI"/>
              </a:rPr>
              <a:t>SUGGESTED → WE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910328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Asked for 'group sprint mode' → added. Volunteered for beta.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6" y="173736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1737360"/>
            <a:ext cx="3611880" cy="82296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18288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Bilal,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221284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D166"/>
                </a:solidFill>
                <a:latin typeface="Segoe UI"/>
              </a:rPr>
              <a:t>2nd-yr IT · international (ESL)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2743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D7377"/>
                </a:solidFill>
                <a:latin typeface="Segoe UI"/>
              </a:rPr>
              <a:t>NEED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3035808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540"/>
                </a:solidFill>
                <a:latin typeface="Segoe UI"/>
              </a:rPr>
              <a:t>Underestimates task time due to English reading load.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38404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D7377"/>
                </a:solidFill>
                <a:latin typeface="Segoe UI"/>
              </a:rPr>
              <a:t>WILLING TO PAY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4133087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5490"/>
                </a:solidFill>
                <a:latin typeface="Segoe UI"/>
              </a:rPr>
              <a:t>AED 30/mo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46177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D7377"/>
                </a:solidFill>
                <a:latin typeface="Segoe UI"/>
              </a:rPr>
              <a:t>SUGGESTED → WE BUILT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910328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Asked for a 'language difficulty multiplier' → in Predictions roadmap.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LEARN &amp; ADAPT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We validated the core — and changed course where the evidence said 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486400" cy="64008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✓  Validated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9377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•  </a:t>
            </a:r>
            <a:r>
              <a:rPr sz="1300" b="0">
                <a:solidFill>
                  <a:srgbClr val="1A2540"/>
                </a:solidFill>
                <a:latin typeface="Segoe UI"/>
              </a:rPr>
              <a:t>Gamification (streaks + leaderboard) lifts daily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49377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•  </a:t>
            </a:r>
            <a:r>
              <a:rPr sz="1300" b="0">
                <a:solidFill>
                  <a:srgbClr val="1A2540"/>
                </a:solidFill>
                <a:latin typeface="Segoe UI"/>
              </a:rPr>
              <a:t>Grade-linked rewards beat generic badges by a wide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49377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•  </a:t>
            </a:r>
            <a:r>
              <a:rPr sz="1300" b="0">
                <a:solidFill>
                  <a:srgbClr val="1A2540"/>
                </a:solidFill>
                <a:latin typeface="Segoe UI"/>
              </a:rPr>
              <a:t>A single consolidated task view reduces missed deadlines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49377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•  </a:t>
            </a:r>
            <a:r>
              <a:rPr sz="1300" b="0">
                <a:solidFill>
                  <a:srgbClr val="1A2540"/>
                </a:solidFill>
                <a:latin typeface="Segoe UI"/>
              </a:rPr>
              <a:t>Direct interviews surfaced features we'd never have designed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37360"/>
            <a:ext cx="5486400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029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3460"/>
                </a:solidFill>
                <a:latin typeface="Segoe UI"/>
              </a:rPr>
              <a:t>⟳  Adaptations made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50292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Manual Google-Form entry  →  </a:t>
            </a:r>
            <a:r>
              <a:rPr sz="1250" b="1">
                <a:solidFill>
                  <a:srgbClr val="0F3460"/>
                </a:solidFill>
                <a:latin typeface="Segoe UI"/>
              </a:rPr>
              <a:t>LMS auto-import (Blackboard .ics)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50292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No anti-cheat mechanism  →  </a:t>
            </a:r>
            <a:r>
              <a:rPr sz="1250" b="1">
                <a:solidFill>
                  <a:srgbClr val="0F3460"/>
                </a:solidFill>
                <a:latin typeface="Segoe UI"/>
              </a:rPr>
              <a:t>Verified Focus Monitor — now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60520"/>
            <a:ext cx="50292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Web-only prototype  →  </a:t>
            </a:r>
            <a:r>
              <a:rPr sz="1250" b="1">
                <a:solidFill>
                  <a:srgbClr val="0F3460"/>
                </a:solidFill>
                <a:latin typeface="Segoe UI"/>
              </a:rPr>
              <a:t>Mobile-first redesign next sprint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83480"/>
            <a:ext cx="50292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F99"/>
                </a:solidFill>
                <a:latin typeface="Segoe UI"/>
              </a:rPr>
              <a:t>Individual-only tasks  →  </a:t>
            </a:r>
            <a:r>
              <a:rPr sz="1250" b="1">
                <a:solidFill>
                  <a:srgbClr val="0F3460"/>
                </a:solidFill>
                <a:latin typeface="Segoe UI"/>
              </a:rPr>
              <a:t>Group sprint / team-challenge mode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7377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460"/>
                </a:solidFill>
                <a:latin typeface="Segoe UI"/>
              </a:rPr>
              <a:t>Shipped the MVP — here's how we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611880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3460"/>
                </a:solidFill>
                <a:latin typeface="Segoe UI"/>
              </a:rPr>
              <a:t>Phase 1 —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3460"/>
                </a:solidFill>
                <a:latin typeface="Segoe UI"/>
              </a:rP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Functional web MVP (built ✓)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75887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Verified Focus Monitor (built ✓)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34256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Blackboard .ics 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92624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Pomodoro focus timer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1554480"/>
            <a:ext cx="1600200" cy="384048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1554480"/>
            <a:ext cx="1600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D166"/>
                </a:solidFill>
                <a:latin typeface="Segoe UI"/>
              </a:rPr>
              <a:t>◀ YOU ARE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920240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920240"/>
            <a:ext cx="3611880" cy="86868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20116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Phase 2 — Short 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42316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0175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7377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Full Blackboard API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675887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7377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Native mobile app (iOS + Android)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334256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7377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Streak-freeze feature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992624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7377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Instructor approval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7576" y="1920240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37576" y="1920240"/>
            <a:ext cx="3611880" cy="86868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6" y="20116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Phase 3 — Medium term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42316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Q1–Q2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30175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490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AI adaptive task-duration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3675887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490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Group sprints / team challenges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4334256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490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University B2B licensing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4992624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490"/>
                </a:solidFill>
                <a:latin typeface="Segoe UI"/>
              </a:rPr>
              <a:t>•  </a:t>
            </a:r>
            <a:r>
              <a:rPr sz="1250" b="0">
                <a:solidFill>
                  <a:srgbClr val="1A2540"/>
                </a:solidFill>
                <a:latin typeface="Segoe UI"/>
              </a:rPr>
              <a:t>Instructor analytics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94960" y="868680"/>
            <a:ext cx="1371600" cy="13716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886968"/>
            <a:ext cx="13716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3460"/>
                </a:solidFill>
                <a:latin typeface="Segoe UI"/>
              </a:rPr>
              <a:t>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Every deadline met is a student who proved they could.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D166"/>
                </a:solidFill>
                <a:latin typeface="Segoe UI"/>
              </a:rPr>
              <a:t>We just give them the reason to 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43484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D166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521208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Interviews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43484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D166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21208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Key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43484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D166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21208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Pilot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43484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D166"/>
                </a:solidFill>
                <a:latin typeface="Segoe U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21208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Positive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C3E8"/>
                </a:solidFill>
                <a:latin typeface="Segoe UI"/>
              </a:rPr>
              <a:t>StudyStrike — Compete. Excel. Succeed.   |   FWS310, Spring 2025–2026   |   Instructor: Abdelrahman El Adly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